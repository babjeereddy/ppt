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sldIdLst>
    <p:sldId id="256" r:id="rId2"/>
    <p:sldId id="524" r:id="rId3"/>
    <p:sldId id="523" r:id="rId4"/>
    <p:sldId id="525" r:id="rId5"/>
    <p:sldId id="526" r:id="rId6"/>
    <p:sldId id="527" r:id="rId7"/>
    <p:sldId id="598" r:id="rId8"/>
    <p:sldId id="528" r:id="rId9"/>
    <p:sldId id="599" r:id="rId10"/>
    <p:sldId id="600" r:id="rId11"/>
    <p:sldId id="601" r:id="rId12"/>
    <p:sldId id="581" r:id="rId13"/>
    <p:sldId id="602" r:id="rId14"/>
    <p:sldId id="582" r:id="rId15"/>
    <p:sldId id="583" r:id="rId16"/>
    <p:sldId id="603" r:id="rId17"/>
    <p:sldId id="604" r:id="rId18"/>
    <p:sldId id="605" r:id="rId19"/>
    <p:sldId id="606" r:id="rId20"/>
    <p:sldId id="607" r:id="rId21"/>
    <p:sldId id="608" r:id="rId22"/>
    <p:sldId id="609" r:id="rId23"/>
    <p:sldId id="610" r:id="rId24"/>
    <p:sldId id="612" r:id="rId25"/>
    <p:sldId id="613" r:id="rId26"/>
    <p:sldId id="614" r:id="rId27"/>
    <p:sldId id="615" r:id="rId28"/>
    <p:sldId id="616" r:id="rId29"/>
    <p:sldId id="617" r:id="rId30"/>
    <p:sldId id="618" r:id="rId31"/>
    <p:sldId id="619" r:id="rId32"/>
    <p:sldId id="620" r:id="rId33"/>
    <p:sldId id="621" r:id="rId34"/>
    <p:sldId id="622" r:id="rId35"/>
    <p:sldId id="623" r:id="rId36"/>
    <p:sldId id="624" r:id="rId37"/>
    <p:sldId id="625" r:id="rId38"/>
    <p:sldId id="627" r:id="rId39"/>
    <p:sldId id="628" r:id="rId40"/>
    <p:sldId id="629" r:id="rId41"/>
    <p:sldId id="630" r:id="rId42"/>
    <p:sldId id="632" r:id="rId43"/>
    <p:sldId id="633" r:id="rId44"/>
    <p:sldId id="634" r:id="rId45"/>
    <p:sldId id="635" r:id="rId46"/>
    <p:sldId id="636" r:id="rId47"/>
    <p:sldId id="637" r:id="rId48"/>
    <p:sldId id="638" r:id="rId49"/>
    <p:sldId id="639" r:id="rId50"/>
    <p:sldId id="640" r:id="rId51"/>
    <p:sldId id="646" r:id="rId52"/>
    <p:sldId id="641" r:id="rId53"/>
    <p:sldId id="642" r:id="rId54"/>
    <p:sldId id="643" r:id="rId55"/>
    <p:sldId id="644" r:id="rId56"/>
    <p:sldId id="645" r:id="rId57"/>
    <p:sldId id="647" r:id="rId58"/>
    <p:sldId id="648" r:id="rId59"/>
    <p:sldId id="649" r:id="rId60"/>
    <p:sldId id="650" r:id="rId61"/>
    <p:sldId id="651" r:id="rId62"/>
    <p:sldId id="652" r:id="rId63"/>
    <p:sldId id="653" r:id="rId64"/>
    <p:sldId id="654" r:id="rId65"/>
    <p:sldId id="655" r:id="rId66"/>
    <p:sldId id="656" r:id="rId67"/>
    <p:sldId id="261" r:id="rId6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20" userDrawn="1">
          <p15:clr>
            <a:srgbClr val="A4A3A4"/>
          </p15:clr>
        </p15:guide>
        <p15:guide id="2" pos="21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3" d="100"/>
          <a:sy n="93" d="100"/>
        </p:scale>
        <p:origin x="520" y="56"/>
      </p:cViewPr>
      <p:guideLst>
        <p:guide orient="horz" pos="2920"/>
        <p:guide pos="212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7DE22-9E91-4192-903F-3C4AE46FA73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C5A8-19BE-4F99-84F1-2DBB255A6B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>
                <a:sym typeface="+mn-ea"/>
              </a:rPr>
              <a:t>BigQuery is Google Cloud’s serverless enterprise data warehouse.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>
                <a:sym typeface="+mn-ea"/>
              </a:rPr>
              <a:t>You do not manage servers, indexes, or infrastructure.</a:t>
            </a:r>
            <a:endParaRPr lang="en-US" altLang="en-GB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>
                <a:sym typeface="+mn-ea"/>
              </a:rPr>
              <a:t>It separates compute from storage and scales automatically.</a:t>
            </a:r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/>
              <a:t>BigQuery stores data in columnar format </a:t>
            </a:r>
            <a:r>
              <a:rPr lang="en-US" altLang="en-US"/>
              <a:t>→</a:t>
            </a:r>
            <a:r>
              <a:rPr lang="en-US" altLang="en-GB"/>
              <a:t> faster analytics.</a:t>
            </a:r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/>
              <a:t>Separation of compute &amp; storage means:</a:t>
            </a:r>
          </a:p>
          <a:p>
            <a:pPr indent="45720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/>
              <a:t>Storage billed separately</a:t>
            </a:r>
          </a:p>
          <a:p>
            <a:pPr indent="45720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/>
              <a:t>Query compute billed separately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373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120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974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716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182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294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421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236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780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92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147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991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403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962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318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090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An Azure Tenant is a dedicated instance of Microsoft Azure's cloud services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 that represents a single organization within the Azure Active Directory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8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44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687" y="1053737"/>
            <a:ext cx="8305800" cy="352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0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047750"/>
            <a:ext cx="2133336" cy="51377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2475" y="1880841"/>
            <a:ext cx="5709920" cy="71564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US" altLang="en-IN" sz="3700" b="1" spc="2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PowerBI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95665" cy="318516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What is BI?</a:t>
            </a:r>
          </a:p>
          <a:p>
            <a:pPr lvl="0" indent="0">
              <a:lnSpc>
                <a:spcPct val="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dirty="0"/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dirty="0"/>
              <a:t>Business Intelligence (BI) is a process and technology used to: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Collect data from multiple sources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Clean and transform it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Present it in a meaningful way (reports/dashboards)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Help businesses make data-driven decisions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Simple Example (Classroom):</a:t>
            </a:r>
          </a:p>
          <a:p>
            <a:pPr lvl="0" indent="45720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dirty="0"/>
              <a:t>Students marks </a:t>
            </a:r>
            <a:r>
              <a:rPr lang="en-US" altLang="en-US" dirty="0"/>
              <a:t>→</a:t>
            </a:r>
            <a:r>
              <a:rPr lang="en-US" altLang="en-GB" dirty="0"/>
              <a:t> Calculate average </a:t>
            </a:r>
            <a:r>
              <a:rPr lang="en-US" altLang="en-US" dirty="0"/>
              <a:t>→</a:t>
            </a:r>
            <a:r>
              <a:rPr lang="en-US" altLang="en-GB" dirty="0"/>
              <a:t> Find topper </a:t>
            </a:r>
            <a:r>
              <a:rPr lang="en-US" altLang="en-US" dirty="0"/>
              <a:t>→</a:t>
            </a:r>
            <a:r>
              <a:rPr lang="en-US" altLang="en-GB" dirty="0"/>
              <a:t> Decision (extra coaching)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 </a:t>
            </a:r>
            <a:r>
              <a:rPr lang="zh-CN" altLang="en-US" dirty="0"/>
              <a:t>👉</a:t>
            </a:r>
            <a:r>
              <a:rPr lang="en-US" altLang="en-GB" dirty="0"/>
              <a:t> Decision: Increase marketing in Delhi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/>
              <a:t>BUSINESS INTELLIGENCE (BI)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/>
              <a:t>BI vs Traditional Reporting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00660" y="996950"/>
          <a:ext cx="8303259" cy="1993900"/>
        </p:xfrm>
        <a:graphic>
          <a:graphicData uri="http://schemas.openxmlformats.org/drawingml/2006/table">
            <a:tbl>
              <a:tblPr/>
              <a:tblGrid>
                <a:gridCol w="276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7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7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Feature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Traditional Reporting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BI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Data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Static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Dynamic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Updates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Manual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Automatic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Analysis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Limited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Deep insights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Output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Tables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Interactive dashboards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464550" cy="4878070"/>
          </a:xfrm>
        </p:spPr>
        <p:txBody>
          <a:bodyPr wrap="square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en-US" altLang="en-GB" b="1" dirty="0"/>
              <a:t>Data Collection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Sources: Excel, DB, APIs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en-US" altLang="en-GB" dirty="0"/>
              <a:t>Data Cleaning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Remove duplicates, nulls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en-US" altLang="en-GB" b="1" dirty="0"/>
              <a:t>Data Transformation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Convert formats, merge tables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en-US" altLang="en-GB" b="1" dirty="0"/>
              <a:t>Data Modeling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Create relationships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en-US" altLang="en-GB" b="1" dirty="0"/>
              <a:t>Visualization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Charts, dashboards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en-US" altLang="en-GB" b="1" dirty="0"/>
              <a:t>Decision Making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Business action</a:t>
            </a:r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/>
              <a:t>BI Lifecycle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816350"/>
          </a:xfrm>
        </p:spPr>
        <p:txBody>
          <a:bodyPr wrap="square"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Power BI is a Microsoft Business Intelligence tool used to: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Analyze data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Create reports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Build dashboards</a:t>
            </a:r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Why Power BI is Popular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Beginner-friendly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Strong integration with Excel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Low cost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Cloud-based sharing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High demand in jobs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WHAT IS POWER BI – DETAILED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462020"/>
          </a:xfrm>
        </p:spPr>
        <p:txBody>
          <a:bodyPr wrap="square"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1. Power BI Desktop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Used to create reports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Installed on laptop</a:t>
            </a:r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Example:</a:t>
            </a:r>
          </a:p>
          <a:p>
            <a:pPr indent="45720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dirty="0"/>
              <a:t>Import Excel </a:t>
            </a:r>
            <a:r>
              <a:rPr lang="en-US" altLang="en-US" dirty="0"/>
              <a:t>→</a:t>
            </a:r>
            <a:r>
              <a:rPr lang="en-US" altLang="en-GB" dirty="0"/>
              <a:t> Build dashboar </a:t>
            </a:r>
          </a:p>
          <a:p>
            <a:pPr indent="0">
              <a:spcBef>
                <a:spcPts val="600"/>
              </a:spcBef>
              <a:buNone/>
            </a:pPr>
            <a:r>
              <a:rPr lang="en-US" altLang="en-GB" b="1" dirty="0"/>
              <a:t>2. Power BI Service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Cloud platform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Used to share reports</a:t>
            </a:r>
          </a:p>
          <a:p>
            <a:pPr indent="0">
              <a:spcBef>
                <a:spcPts val="600"/>
              </a:spcBef>
              <a:buNone/>
            </a:pPr>
            <a:r>
              <a:rPr lang="en-US" altLang="en-GB" b="1" dirty="0"/>
              <a:t>Example: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Manager opens report in browser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Power BI Components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1338580"/>
          </a:xfrm>
        </p:spPr>
        <p:txBody>
          <a:bodyPr wrap="square"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dirty="0"/>
              <a:t>3.</a:t>
            </a:r>
            <a:r>
              <a:rPr lang="en-US" altLang="en-GB" b="1" dirty="0"/>
              <a:t> Power BI Mobile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View reports on phone</a:t>
            </a:r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4. Power BI Report Server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Used when data must stay inside company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Power BI Components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080" y="666750"/>
            <a:ext cx="8464550" cy="452437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Drag &amp; Drop Interface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No coding needed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User-friendly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Example: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Drag “Sales” </a:t>
            </a:r>
            <a:r>
              <a:rPr lang="en-US" altLang="en-US" dirty="0"/>
              <a:t>→</a:t>
            </a:r>
            <a:r>
              <a:rPr lang="en-US" altLang="en-GB" dirty="0"/>
              <a:t> Chart created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 Interactive Dashboards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Clicking one chart filters others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 Example: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Click "India" </a:t>
            </a:r>
            <a:r>
              <a:rPr lang="en-US" altLang="en-US" dirty="0"/>
              <a:t>→</a:t>
            </a:r>
            <a:r>
              <a:rPr lang="en-US" altLang="en-GB" dirty="0"/>
              <a:t> All visuals update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Data Refresh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Data updates automatically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 Example: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Stock price dashboard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1336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FEATURES OF POWER BI – DETAILED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080" y="666750"/>
            <a:ext cx="8464550" cy="346202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Power Query (Data Transformation)</a:t>
            </a:r>
          </a:p>
          <a:p>
            <a:pPr lvl="0" indent="45720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dirty="0"/>
              <a:t>Used for cleaning data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Operations: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Remove nulls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Split columns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Merge tables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Data Modeling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Create relationships between tables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 Example: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Sales table </a:t>
            </a:r>
            <a:r>
              <a:rPr lang="en-US" altLang="en-US" dirty="0"/>
              <a:t>↔</a:t>
            </a:r>
            <a:r>
              <a:rPr lang="en-US" altLang="en-GB" dirty="0"/>
              <a:t> Customer table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1336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FEATURES OF POWER BI 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080" y="666750"/>
            <a:ext cx="8464550" cy="310832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DAX (Data Analysis Expressions)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Formula language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Example: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Total Sales = SUM(Sales[Amount])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Profit = Sales - Cost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 AI Features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Ask questions in English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 Example:</a:t>
            </a:r>
          </a:p>
          <a:p>
            <a:pPr lvl="0" indent="45720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dirty="0"/>
              <a:t>“Top 5 products by sales”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1336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FEATURES OF POWER BI 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080" y="666750"/>
            <a:ext cx="8464550" cy="275463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Security (RLS)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Restrict access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Example: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Manager sees only his region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dirty="0"/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Collaboration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Share dashboards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Workspaces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1336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FEATURES OF POWER BI 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417004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Power Query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ETL tool (Extract, Transform, Load)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Example: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Messy Excel </a:t>
            </a:r>
            <a:r>
              <a:rPr lang="en-US" altLang="en-US" dirty="0"/>
              <a:t>→</a:t>
            </a:r>
            <a:r>
              <a:rPr lang="en-US" altLang="en-GB" dirty="0"/>
              <a:t> Clean dataset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 Power Pivot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Data modeling engine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Handles relationships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DAX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Used for calculations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 Advanced: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CALCULATE()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FILTER()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POWER BI TOOLS 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04660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Power BI Gateway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Connects local data to cloud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Example: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SQL Server </a:t>
            </a:r>
            <a:r>
              <a:rPr lang="en-US" altLang="en-US" dirty="0"/>
              <a:t>→</a:t>
            </a:r>
            <a:r>
              <a:rPr lang="en-US" altLang="en-GB" dirty="0"/>
              <a:t> Power BI Service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Power BI Mobile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Access dashboards anywhere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POWER BI TOOLS 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81635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US" b="1" dirty="0"/>
              <a:t>T</a:t>
            </a:r>
            <a:r>
              <a:rPr lang="en-US" altLang="en-GB" b="1" dirty="0"/>
              <a:t>echnical Advantages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Fast (in-memory engine)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Handles large data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Real-time analytics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Business Advantages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Better decisions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Easy sharing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Centralized data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Cost Advantages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Cheaper than Tableau/Qlik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Free version available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ADVANTAGES OF POWER BI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742950"/>
            <a:ext cx="8464550" cy="275463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File Sources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Excel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CSV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JSON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 Database Sources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SQL Server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MySQL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Oracle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DATA SOURCES – DETAILED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742950"/>
            <a:ext cx="8464550" cy="346202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Cloud Sources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Azure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Google Analytics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Salesforce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Big Data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Hadoop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Spark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APIs &amp; Streaming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Web APIs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IoT real-time data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DATA SOURCES – DETAILED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742950"/>
            <a:ext cx="8464550" cy="404685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Column Chart in Power BI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A Column Chart in Power BI is a type of visualization used to compare values across different categories using vertical bars (columns).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 Example (Sales by Region)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When to Use Column Chart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1. Compare Categories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Sales by region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Profit by product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2. Show Ranking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Top 5 products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Employee performance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3. Display Discrete Data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Data separated by categories (not continuous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820" y="2860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742950"/>
            <a:ext cx="8464550" cy="346202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Types of Column Charts in Power BI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1. Clustered Column Chart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Compares multiple categories side by side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dirty="0"/>
              <a:t>Example: Sales of Product A vs B in each region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2. Stacked Column Chart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Shows total + breakdown inside same column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dirty="0"/>
              <a:t>Example: Sales = Online + Offline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3.100% Stacked Column Chart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dirty="0"/>
              <a:t>Shows percentage distribution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dirty="0"/>
              <a:t>Example: Market share %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666750"/>
            <a:ext cx="8464550" cy="437007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Bar Chart in Power BI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A Bar Chart in Power BI is used to compare values across different categories using horizontal bars.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 It is the horizontal version of a column chart.</a:t>
            </a:r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sz="1600" dirty="0"/>
              <a:t>Example (Sales by Region)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When to Use Bar Chart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 1. Compare Categories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Sales by region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Profit by product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2. Handle Long Category Names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Customer names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Product descriptions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3. Show Ranking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Top / Bottom performers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666750"/>
            <a:ext cx="8464550" cy="283146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Types of Bar Charts in Power BI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1. Clustered Bar Chart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Side-by-side comparison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sz="1600" dirty="0"/>
              <a:t>Example: Product A vs Product B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2. Stacked Bar Chart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Shows total + breakdown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sz="1600" dirty="0"/>
              <a:t>Example: Online vs Offline sales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3. 100% Stacked Bar Chart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Shows percentage distribution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  <p:graphicFrame>
        <p:nvGraphicFramePr>
          <p:cNvPr id="4" name="Table 3"/>
          <p:cNvGraphicFramePr/>
          <p:nvPr/>
        </p:nvGraphicFramePr>
        <p:xfrm>
          <a:off x="513080" y="819150"/>
          <a:ext cx="7863840" cy="8534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Bar Chart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Column Chart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Horizontal bars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Vertical bars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Good for long labels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Good for short labels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Categories on Y-axis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Categories on X-axis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187700" y="6769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666750"/>
            <a:ext cx="8464550" cy="437007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Pie Chart in Power BI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A Pie Chart in Power BI is used to show how a whole value is divided into different parts (percentages or proportions).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 It answers the question: “How much each category contributes to the total?”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Example (Sales Distribution)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When to Use Pie Chart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sz="1600" b="1" dirty="0"/>
              <a:t> 1. Show Percentage Contribution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Market share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Sales distribution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sz="1600" b="1" dirty="0"/>
              <a:t>2. Compare Parts of a Whole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Category-wise revenue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Department-wise expenses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sz="1600" dirty="0"/>
              <a:t> </a:t>
            </a:r>
            <a:r>
              <a:rPr lang="en-US" altLang="en-GB" sz="1600" b="1" dirty="0"/>
              <a:t>3. Limited Categories (Important!)</a:t>
            </a:r>
            <a:endParaRPr lang="en-US" altLang="en-GB" sz="1600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Best when categories are less than 5–6	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666750"/>
            <a:ext cx="8464550" cy="412432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When to Use Pie Chart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sz="1600" b="1" dirty="0"/>
              <a:t> 1. Show Percentage Contribution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Market share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Sales distribution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sz="1600" b="1" dirty="0"/>
              <a:t>2. Compare Parts of a Whole</a:t>
            </a:r>
          </a:p>
          <a:p>
            <a:pPr lvl="2" indent="0">
              <a:spcBef>
                <a:spcPts val="600"/>
              </a:spcBef>
              <a:buNone/>
            </a:pPr>
            <a:r>
              <a:rPr lang="en-US" altLang="en-GB" sz="1600" dirty="0"/>
              <a:t>Category-wise revenue</a:t>
            </a:r>
          </a:p>
          <a:p>
            <a:pPr marL="1657350" lvl="3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Department-wise expenses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sz="1600" b="1" dirty="0"/>
              <a:t>3. Limited Categories (Important!)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Best when categories are less than 5–6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When NOT to Use Pie Chart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 Too many categories </a:t>
            </a:r>
            <a:r>
              <a:rPr lang="en-US" altLang="en-US" sz="1600" dirty="0"/>
              <a:t>→</a:t>
            </a:r>
            <a:r>
              <a:rPr lang="en-US" altLang="en-GB" sz="1600" dirty="0"/>
              <a:t> becomes confusing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 Exact value comparison </a:t>
            </a:r>
            <a:r>
              <a:rPr lang="en-US" altLang="en-US" sz="1600" dirty="0"/>
              <a:t>→</a:t>
            </a:r>
            <a:r>
              <a:rPr lang="en-US" altLang="en-GB" sz="1600" dirty="0"/>
              <a:t> use Bar/Column chart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 Trend over time </a:t>
            </a:r>
            <a:r>
              <a:rPr lang="en-US" altLang="en-US" sz="1600" dirty="0"/>
              <a:t>→</a:t>
            </a:r>
            <a:r>
              <a:rPr lang="en-US" altLang="en-GB" sz="1600" dirty="0"/>
              <a:t> use Line chart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666750"/>
            <a:ext cx="8464550" cy="421640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What is a Funnel Chart?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A Funnel Chart in Power BI is used to represent stages in a process and how data flows through those stages. It visually shows progressive reduction (or drop-off) from one stage to another.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It is called a funnel because the shape looks like a funnel — wide at the top and narrow at the bottom.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When to Use Funnel Chart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You have sequential stages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Data reduces step by step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You want to analyze conversion or loss</a:t>
            </a:r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sz="1600" b="1" dirty="0"/>
              <a:t>Common Use Cases: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Recruitment process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Website conversion (Visitors </a:t>
            </a:r>
            <a:r>
              <a:rPr lang="en-US" altLang="en-US" sz="1600" dirty="0"/>
              <a:t>→</a:t>
            </a:r>
            <a:r>
              <a:rPr lang="en-US" altLang="en-GB" sz="1600" dirty="0"/>
              <a:t> Signups </a:t>
            </a:r>
            <a:r>
              <a:rPr lang="en-US" altLang="en-US" sz="1600" dirty="0"/>
              <a:t>→</a:t>
            </a:r>
            <a:r>
              <a:rPr lang="en-US" altLang="en-GB" sz="1600" dirty="0"/>
              <a:t> Purchases)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Marketing campaign tracking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666750"/>
            <a:ext cx="8464550" cy="283146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Advantages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Easy to understand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Highlights weak stages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Helps improve decision-making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Good for storytelling in dashboards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Limitations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Only works for linear processes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Not suitable for complex or non-sequential data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Cannot show detailed comparisons like bar charts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6560" y="666750"/>
            <a:ext cx="8581390" cy="347789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What is a Ribbon Chart?</a:t>
            </a:r>
          </a:p>
          <a:p>
            <a:pPr lvl="0" indent="457200">
              <a:spcBef>
                <a:spcPts val="600"/>
              </a:spcBef>
              <a:buNone/>
            </a:pPr>
            <a:r>
              <a:rPr lang="en-US" altLang="en-GB" sz="1600" dirty="0"/>
              <a:t>A Ribbon Chart in Power BI is used to show ranking changes over time or across categories.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 It highlights: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How categories (like products, regions, brands) move up or down in rank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Changes in top performers over time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dirty="0"/>
              <a:t>“Ribbon chart shows which category is leading and how rankings change over time.”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Example: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In January </a:t>
            </a:r>
            <a:r>
              <a:rPr lang="en-US" altLang="en-US" sz="1600" dirty="0"/>
              <a:t>→</a:t>
            </a:r>
            <a:r>
              <a:rPr lang="en-US" altLang="en-GB" sz="1600" dirty="0"/>
              <a:t> Product A is No.1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In February </a:t>
            </a:r>
            <a:r>
              <a:rPr lang="en-US" altLang="en-US" sz="1600" dirty="0"/>
              <a:t>→</a:t>
            </a:r>
            <a:r>
              <a:rPr lang="en-US" altLang="en-GB" sz="1600" dirty="0"/>
              <a:t> Product B becomes No.1</a:t>
            </a:r>
          </a:p>
          <a:p>
            <a:pPr lvl="0" indent="0">
              <a:spcBef>
                <a:spcPts val="600"/>
              </a:spcBef>
              <a:buNone/>
            </a:pPr>
            <a:endParaRPr lang="en-US" altLang="en-GB" sz="1600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dirty="0"/>
              <a:t>Ribbon chart shows this shift visually using ribbons.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6560" y="666750"/>
            <a:ext cx="8581390" cy="315468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dirty="0"/>
              <a:t>When to Use Ribbon Chart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You want to show rank changes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Data has a time dimension (Month, Year)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You are comparing multiple categories</a:t>
            </a:r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/>
              <a:t>Common Use Cases: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Product sales ranking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Regional performance comparison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Market share changes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/>
              <a:t>Brand performance over time</a:t>
            </a:r>
          </a:p>
          <a:p>
            <a:pPr lvl="0" indent="0">
              <a:spcBef>
                <a:spcPts val="600"/>
              </a:spcBef>
              <a:buNone/>
            </a:pPr>
            <a:endParaRPr lang="en-US" altLang="en-GB" sz="16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6560" y="666750"/>
            <a:ext cx="8581390" cy="315468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>
                <a:sym typeface="+mn-ea"/>
              </a:rPr>
              <a:t>Advantages</a:t>
            </a:r>
            <a:endParaRPr lang="en-US" altLang="en-GB" sz="1600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Combines trend + ranking</a:t>
            </a:r>
            <a:endParaRPr lang="en-US" altLang="en-GB" sz="1600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Visually engaging</a:t>
            </a:r>
            <a:endParaRPr lang="en-US" altLang="en-GB" sz="1600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Easy to track leaders</a:t>
            </a:r>
            <a:endParaRPr lang="en-US" altLang="en-GB" sz="1600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Helps in business decisions</a:t>
            </a:r>
            <a:endParaRPr lang="en-US" altLang="en-GB" sz="1600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sz="1600" b="1" dirty="0">
                <a:sym typeface="+mn-ea"/>
              </a:rPr>
              <a:t>Limitations</a:t>
            </a:r>
            <a:endParaRPr lang="en-US" altLang="en-GB" sz="1600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Can be confusing with too many categories</a:t>
            </a:r>
            <a:endParaRPr lang="en-US" altLang="en-GB" sz="1600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Not ideal for exact value comparison</a:t>
            </a:r>
            <a:endParaRPr lang="en-US" altLang="en-GB" sz="1600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sz="1600" dirty="0">
                <a:sym typeface="+mn-ea"/>
              </a:rPr>
              <a:t>Works best with top N categories only</a:t>
            </a:r>
            <a:endParaRPr lang="en-US" altLang="en-GB" sz="1600" dirty="0"/>
          </a:p>
          <a:p>
            <a:pPr lvl="0" indent="0">
              <a:spcBef>
                <a:spcPts val="600"/>
              </a:spcBef>
              <a:buNone/>
            </a:pPr>
            <a:endParaRPr lang="en-US" altLang="en-GB" sz="16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209837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Chat Types</a:t>
            </a:r>
            <a:endParaRPr lang="en-US" alt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615"/>
            <a:ext cx="9144000" cy="44462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" y="0"/>
            <a:ext cx="88709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90"/>
            <a:ext cx="9144000" cy="49733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355"/>
            <a:ext cx="9144000" cy="41865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635"/>
            <a:ext cx="9144000" cy="48875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70"/>
            <a:ext cx="9143365" cy="49625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"/>
            <a:ext cx="9144000" cy="51403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40"/>
            <a:ext cx="9144000" cy="508698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985"/>
            <a:ext cx="9144000" cy="43668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930"/>
            <a:ext cx="9144000" cy="4739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170"/>
            <a:ext cx="91440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" y="238125"/>
            <a:ext cx="9160510" cy="495363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225" y="78740"/>
            <a:ext cx="9058275" cy="491553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166370"/>
            <a:ext cx="9037955" cy="47682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" y="221615"/>
            <a:ext cx="8256905" cy="41884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7150"/>
            <a:ext cx="8001635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272415"/>
            <a:ext cx="8597900" cy="455993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" y="213360"/>
            <a:ext cx="8473440" cy="464883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95250"/>
            <a:ext cx="7503795" cy="405066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-95250"/>
            <a:ext cx="7845425" cy="40798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90" y="389890"/>
            <a:ext cx="8434705" cy="397573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15444"/>
          </a:xfrm>
        </p:spPr>
        <p:txBody>
          <a:bodyPr/>
          <a:lstStyle/>
          <a:p>
            <a:r>
              <a:rPr lang="en-US" sz="1400" dirty="0"/>
              <a:t>What is Power BI Security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4EBB8-A221-9875-980C-C12BBD179864}"/>
              </a:ext>
            </a:extLst>
          </p:cNvPr>
          <p:cNvSpPr txBox="1"/>
          <p:nvPr/>
        </p:nvSpPr>
        <p:spPr>
          <a:xfrm>
            <a:off x="512900" y="590550"/>
            <a:ext cx="80977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Power BI security controls:</a:t>
            </a:r>
          </a:p>
          <a:p>
            <a:endParaRPr lang="en-IN" sz="1400" dirty="0"/>
          </a:p>
          <a:p>
            <a:r>
              <a:rPr lang="en-IN" sz="1400" dirty="0"/>
              <a:t>	Who can access Power BI content and what they are allowed to do with it.</a:t>
            </a:r>
          </a:p>
          <a:p>
            <a:endParaRPr lang="en-IN" sz="1400" dirty="0"/>
          </a:p>
          <a:p>
            <a:r>
              <a:rPr lang="en-IN" sz="1400" dirty="0"/>
              <a:t>Power BI security operates at multiple levels: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5793F7-3E64-AD48-F241-1BC4EF880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2150"/>
            <a:ext cx="5239019" cy="29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860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76999"/>
          </a:xfrm>
        </p:spPr>
        <p:txBody>
          <a:bodyPr/>
          <a:lstStyle/>
          <a:p>
            <a:r>
              <a:rPr lang="en-IN" sz="1800" dirty="0"/>
              <a:t>Workspace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AE9B50-07C3-B7C2-7806-A737F9C0B4C8}"/>
              </a:ext>
            </a:extLst>
          </p:cNvPr>
          <p:cNvSpPr txBox="1"/>
          <p:nvPr/>
        </p:nvSpPr>
        <p:spPr>
          <a:xfrm>
            <a:off x="533400" y="742950"/>
            <a:ext cx="8534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n-lt"/>
              </a:rPr>
              <a:t>A Workspace in Microsoft Fabric is a container used to organize, develop, manage, and share data and analytics items for a project, team, or business department.</a:t>
            </a:r>
          </a:p>
          <a:p>
            <a:endParaRPr lang="en-US" sz="1400" dirty="0">
              <a:latin typeface="+mn-lt"/>
            </a:endParaRPr>
          </a:p>
          <a:p>
            <a:endParaRPr lang="en-IN" sz="14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45A5FE-DFE1-604C-6562-BFACA96F6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09" y="1266758"/>
            <a:ext cx="5855001" cy="260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099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15444"/>
          </a:xfrm>
        </p:spPr>
        <p:txBody>
          <a:bodyPr/>
          <a:lstStyle/>
          <a:p>
            <a:r>
              <a:rPr lang="en-US" sz="1400" dirty="0"/>
              <a:t>Why do we need a Workspace?</a:t>
            </a:r>
            <a:endParaRPr lang="en-IN" sz="1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1744DE-5F5F-B46C-D617-A2985BF63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452709"/>
              </p:ext>
            </p:extLst>
          </p:nvPr>
        </p:nvGraphicFramePr>
        <p:xfrm>
          <a:off x="512900" y="819150"/>
          <a:ext cx="8305800" cy="2255520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356194152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796234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699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1. Organize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Keep related Fabric items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37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2. Develop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Developers create notebooks, pipelines, lakehouses, reports,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057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3. Collaborate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Multiple developers can work on the same 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312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4. 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Control who can view, edit, or manage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21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 dirty="0"/>
                        <a:t>5. Deploy/Share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Publish solutions to users and move content between environments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465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4123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46221"/>
          </a:xfrm>
        </p:spPr>
        <p:txBody>
          <a:bodyPr/>
          <a:lstStyle/>
          <a:p>
            <a:r>
              <a:rPr lang="en-US" sz="1600" dirty="0"/>
              <a:t>Workspace Security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F73E8-C32E-8029-7AA3-DB9DF300881E}"/>
              </a:ext>
            </a:extLst>
          </p:cNvPr>
          <p:cNvSpPr txBox="1"/>
          <p:nvPr/>
        </p:nvSpPr>
        <p:spPr>
          <a:xfrm>
            <a:off x="404204" y="742950"/>
            <a:ext cx="8511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n-lt"/>
              </a:rPr>
              <a:t>Workspace Security in Power BI, it controls who can access, view, edit, publish, and manage content inside a workspace.</a:t>
            </a:r>
            <a:endParaRPr lang="en-IN" sz="1400" dirty="0">
              <a:latin typeface="+mn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3BB59F-1E8F-644A-095C-FED4F2A1B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407165"/>
              </p:ext>
            </p:extLst>
          </p:nvPr>
        </p:nvGraphicFramePr>
        <p:xfrm>
          <a:off x="419100" y="1299830"/>
          <a:ext cx="8305800" cy="1524000"/>
        </p:xfrm>
        <a:graphic>
          <a:graphicData uri="http://schemas.openxmlformats.org/drawingml/2006/table">
            <a:tbl>
              <a:tblPr/>
              <a:tblGrid>
                <a:gridCol w="3162300">
                  <a:extLst>
                    <a:ext uri="{9D8B030D-6E8A-4147-A177-3AD203B41FA5}">
                      <a16:colId xmlns:a16="http://schemas.microsoft.com/office/drawing/2014/main" val="641564549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94962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Main Permission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181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 dirty="0"/>
                        <a:t>Admin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Full control over workspace, users, settings, and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484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 dirty="0"/>
                        <a:t>Member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Create, edit, publish, and manage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44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Contributor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 and edit content, but limited workspace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197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Viewer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View reports and dashboards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4471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498F678-3017-5871-8AAA-39BDA5AF3211}"/>
              </a:ext>
            </a:extLst>
          </p:cNvPr>
          <p:cNvSpPr txBox="1"/>
          <p:nvPr/>
        </p:nvSpPr>
        <p:spPr>
          <a:xfrm>
            <a:off x="404204" y="3242399"/>
            <a:ext cx="561559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Workspace Security</a:t>
            </a:r>
          </a:p>
          <a:p>
            <a:r>
              <a:rPr lang="en-IN" sz="1400" dirty="0"/>
              <a:t>→ Controls what users can do.</a:t>
            </a:r>
          </a:p>
          <a:p>
            <a:endParaRPr lang="en-IN" sz="1400" dirty="0"/>
          </a:p>
          <a:p>
            <a:r>
              <a:rPr lang="en-IN" sz="1400" dirty="0"/>
              <a:t>	Example: John can edit the report.</a:t>
            </a:r>
          </a:p>
          <a:p>
            <a:endParaRPr lang="en-IN" sz="1400" dirty="0"/>
          </a:p>
          <a:p>
            <a:r>
              <a:rPr lang="en-IN" sz="1400" b="1" dirty="0"/>
              <a:t>Row-Level Security (RLS)</a:t>
            </a:r>
          </a:p>
          <a:p>
            <a:r>
              <a:rPr lang="en-IN" sz="1400" dirty="0"/>
              <a:t>→ Controls what data users can see.</a:t>
            </a:r>
          </a:p>
          <a:p>
            <a:r>
              <a:rPr lang="en-IN" sz="1400" dirty="0"/>
              <a:t>	</a:t>
            </a:r>
            <a:r>
              <a:rPr lang="en-IN" sz="1400" dirty="0" err="1"/>
              <a:t>Example:John</a:t>
            </a:r>
            <a:r>
              <a:rPr lang="en-IN" sz="1400" dirty="0"/>
              <a:t> can see only South Region sales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16452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46221"/>
          </a:xfrm>
        </p:spPr>
        <p:txBody>
          <a:bodyPr/>
          <a:lstStyle/>
          <a:p>
            <a:r>
              <a:rPr lang="en-IN" sz="1600" dirty="0"/>
              <a:t>S</a:t>
            </a:r>
            <a:r>
              <a:rPr lang="en-IN" sz="1600" b="1" dirty="0"/>
              <a:t>emantic layer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F73E8-C32E-8029-7AA3-DB9DF300881E}"/>
              </a:ext>
            </a:extLst>
          </p:cNvPr>
          <p:cNvSpPr txBox="1"/>
          <p:nvPr/>
        </p:nvSpPr>
        <p:spPr>
          <a:xfrm>
            <a:off x="404204" y="742950"/>
            <a:ext cx="8511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n-lt"/>
              </a:rPr>
              <a:t>A semantic model is a reusable, business-friendly data model that contains the relationships, calculations, business rules, and security needed to provide a consistent view of data to reports and users.</a:t>
            </a:r>
            <a:endParaRPr lang="en-IN" sz="14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59617-AF82-EABC-7EA9-A56743064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15888"/>
            <a:ext cx="4667490" cy="350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717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46221"/>
          </a:xfrm>
        </p:spPr>
        <p:txBody>
          <a:bodyPr/>
          <a:lstStyle/>
          <a:p>
            <a:pPr algn="l" rtl="0"/>
            <a:r>
              <a:rPr lang="en-IN" sz="1600" dirty="0"/>
              <a:t>Semantic Model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F73E8-C32E-8029-7AA3-DB9DF300881E}"/>
              </a:ext>
            </a:extLst>
          </p:cNvPr>
          <p:cNvSpPr txBox="1"/>
          <p:nvPr/>
        </p:nvSpPr>
        <p:spPr>
          <a:xfrm>
            <a:off x="404204" y="742950"/>
            <a:ext cx="85111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0" dirty="0">
                <a:solidFill>
                  <a:srgbClr val="0D0D0D"/>
                </a:solidFill>
                <a:effectLst/>
                <a:latin typeface="-apple-system-body"/>
              </a:rPr>
              <a:t>It controls what another person can do with that data model.</a:t>
            </a:r>
          </a:p>
          <a:p>
            <a:endParaRPr lang="en-US" sz="1400" dirty="0">
              <a:solidFill>
                <a:srgbClr val="0D0D0D"/>
              </a:solidFill>
              <a:latin typeface="-apple-system-body"/>
            </a:endParaRPr>
          </a:p>
          <a:p>
            <a:pPr algn="l" rtl="0">
              <a:buFont typeface="+mj-lt"/>
              <a:buAutoNum type="arabicPeriod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-apple-system-body"/>
              </a:rPr>
              <a:t>Modify this semantic model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 </a:t>
            </a:r>
            <a:b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→ The person can change/edit the semantic model itself, such as its structure, relationships, measures, etc.</a:t>
            </a:r>
          </a:p>
          <a:p>
            <a:pPr algn="l" rtl="0"/>
            <a:endParaRPr lang="en-US" sz="1400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/>
            <a:r>
              <a:rPr lang="en-US" sz="1400" b="1" i="0" dirty="0">
                <a:solidFill>
                  <a:srgbClr val="0D0D0D"/>
                </a:solidFill>
                <a:effectLst/>
                <a:latin typeface="-apple-system-body"/>
              </a:rPr>
              <a:t>2.Share this semantic model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 ✅</a:t>
            </a:r>
          </a:p>
          <a:p>
            <a:pPr algn="l" rtl="0"/>
            <a:b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→ The person can give other people access to this semantic model.</a:t>
            </a:r>
          </a:p>
          <a:p>
            <a:pPr algn="l" rtl="0"/>
            <a:endParaRPr lang="en-US" sz="1400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/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3.</a:t>
            </a:r>
            <a:r>
              <a:rPr lang="en-US" sz="1400" b="1" i="0" dirty="0">
                <a:solidFill>
                  <a:srgbClr val="0D0D0D"/>
                </a:solidFill>
                <a:effectLst/>
                <a:latin typeface="-apple-system-body"/>
              </a:rPr>
              <a:t>Build content with the data associated with this semantic model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 ✅</a:t>
            </a:r>
            <a:b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→ The person can create their own reports or other content using this dataset.</a:t>
            </a:r>
          </a:p>
          <a:p>
            <a:endParaRPr lang="en-IN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8395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46221"/>
          </a:xfrm>
        </p:spPr>
        <p:txBody>
          <a:bodyPr/>
          <a:lstStyle/>
          <a:p>
            <a:pPr algn="l" rtl="0"/>
            <a:r>
              <a:rPr lang="en-IN" sz="1600" dirty="0"/>
              <a:t>Semantic Model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F73E8-C32E-8029-7AA3-DB9DF300881E}"/>
              </a:ext>
            </a:extLst>
          </p:cNvPr>
          <p:cNvSpPr txBox="1"/>
          <p:nvPr/>
        </p:nvSpPr>
        <p:spPr>
          <a:xfrm>
            <a:off x="404204" y="742950"/>
            <a:ext cx="85111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0" dirty="0">
                <a:solidFill>
                  <a:srgbClr val="0D0D0D"/>
                </a:solidFill>
                <a:effectLst/>
                <a:latin typeface="-apple-system-body"/>
              </a:rPr>
              <a:t>It controls what another person can do with that data model.</a:t>
            </a:r>
          </a:p>
          <a:p>
            <a:endParaRPr lang="en-US" sz="1400" dirty="0">
              <a:solidFill>
                <a:srgbClr val="0D0D0D"/>
              </a:solidFill>
              <a:latin typeface="-apple-system-body"/>
            </a:endParaRPr>
          </a:p>
          <a:p>
            <a:pPr algn="l" rtl="0">
              <a:buFont typeface="+mj-lt"/>
              <a:buAutoNum type="arabicPeriod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-apple-system-body"/>
              </a:rPr>
              <a:t>Modify this semantic model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 </a:t>
            </a:r>
            <a:b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→ The person can change/edit the semantic model itself, such as its structure, relationships, measures, etc.</a:t>
            </a:r>
          </a:p>
          <a:p>
            <a:pPr algn="l" rtl="0"/>
            <a:endParaRPr lang="en-US" sz="1400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/>
            <a:r>
              <a:rPr lang="en-US" sz="1400" b="1" i="0" dirty="0">
                <a:solidFill>
                  <a:srgbClr val="0D0D0D"/>
                </a:solidFill>
                <a:effectLst/>
                <a:latin typeface="-apple-system-body"/>
              </a:rPr>
              <a:t>2.Share this semantic model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 ✅</a:t>
            </a:r>
          </a:p>
          <a:p>
            <a:pPr algn="l" rtl="0"/>
            <a:b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→ The person can give other people access to this semantic model.</a:t>
            </a:r>
          </a:p>
          <a:p>
            <a:pPr algn="l" rtl="0"/>
            <a:endParaRPr lang="en-US" sz="1400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/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3.</a:t>
            </a:r>
            <a:r>
              <a:rPr lang="en-US" sz="1400" b="1" i="0" dirty="0">
                <a:solidFill>
                  <a:srgbClr val="0D0D0D"/>
                </a:solidFill>
                <a:effectLst/>
                <a:latin typeface="-apple-system-body"/>
              </a:rPr>
              <a:t>Build content with the data associated with this semantic model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 ✅</a:t>
            </a:r>
            <a:b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1400" b="0" i="0" dirty="0">
                <a:solidFill>
                  <a:srgbClr val="0D0D0D"/>
                </a:solidFill>
                <a:effectLst/>
                <a:latin typeface="-apple-system-body"/>
              </a:rPr>
              <a:t>→ The person can create their own reports or other content using this dataset.</a:t>
            </a:r>
          </a:p>
          <a:p>
            <a:endParaRPr lang="en-IN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3945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46221"/>
          </a:xfrm>
        </p:spPr>
        <p:txBody>
          <a:bodyPr/>
          <a:lstStyle/>
          <a:p>
            <a:r>
              <a:rPr lang="en-US" sz="1600" b="1" dirty="0"/>
              <a:t>Power BI Report Permissions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F73E8-C32E-8029-7AA3-DB9DF300881E}"/>
              </a:ext>
            </a:extLst>
          </p:cNvPr>
          <p:cNvSpPr txBox="1"/>
          <p:nvPr/>
        </p:nvSpPr>
        <p:spPr>
          <a:xfrm>
            <a:off x="404204" y="742950"/>
            <a:ext cx="85111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Report permission</a:t>
            </a:r>
            <a:r>
              <a:rPr lang="en-US" sz="1400" dirty="0"/>
              <a:t> controls </a:t>
            </a:r>
            <a:r>
              <a:rPr lang="en-US" sz="1400" b="1" dirty="0"/>
              <a:t>who can access and share a particular Power BI report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It is different from </a:t>
            </a:r>
            <a:r>
              <a:rPr lang="en-US" sz="1400" b="1" dirty="0"/>
              <a:t>workspace permission</a:t>
            </a:r>
            <a:r>
              <a:rPr lang="en-US" sz="1400" dirty="0"/>
              <a:t> and </a:t>
            </a:r>
            <a:r>
              <a:rPr lang="en-US" sz="1400" b="1" dirty="0"/>
              <a:t>semantic model permission</a:t>
            </a:r>
            <a:r>
              <a:rPr lang="en-US" sz="1400" dirty="0"/>
              <a:t>.</a:t>
            </a:r>
            <a:endParaRPr lang="en-IN" sz="14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6066B9-1CA1-A01F-E585-AB4504920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1" y="1733413"/>
            <a:ext cx="3333921" cy="26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863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46221"/>
          </a:xfrm>
        </p:spPr>
        <p:txBody>
          <a:bodyPr/>
          <a:lstStyle/>
          <a:p>
            <a:r>
              <a:rPr lang="en-US" sz="1600" b="1" dirty="0"/>
              <a:t>Power BI Report Permissions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75A169-E21C-6D6B-7BDE-CFCA2F464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898774"/>
              </p:ext>
            </p:extLst>
          </p:nvPr>
        </p:nvGraphicFramePr>
        <p:xfrm>
          <a:off x="381000" y="971550"/>
          <a:ext cx="8305800" cy="1737360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300697562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34368277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Permission /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335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 dirty="0"/>
                        <a:t>View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Open and interact with the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194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 dirty="0"/>
                        <a:t>Share / Reshare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Share access with other users, when permitted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160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Build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 content from the underlying semantic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471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Edit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Modify the report, normally associated with appropriate workspace/content permissions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320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0040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246221"/>
          </a:xfrm>
        </p:spPr>
        <p:txBody>
          <a:bodyPr/>
          <a:lstStyle/>
          <a:p>
            <a:r>
              <a:rPr lang="en-US" sz="1600" dirty="0"/>
              <a:t>Microsoft Fabric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6E5CC-D5BD-B03E-F164-A1F4CDE284A7}"/>
              </a:ext>
            </a:extLst>
          </p:cNvPr>
          <p:cNvSpPr txBox="1"/>
          <p:nvPr/>
        </p:nvSpPr>
        <p:spPr>
          <a:xfrm>
            <a:off x="512900" y="742950"/>
            <a:ext cx="85549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What is an App in Microsoft Fabric?</a:t>
            </a:r>
          </a:p>
          <a:p>
            <a:r>
              <a:rPr lang="en-US" sz="1400" dirty="0"/>
              <a:t>A Fabric App is a way to package and distribute selected content from a Fabric workspace to business users.</a:t>
            </a:r>
          </a:p>
          <a:p>
            <a:endParaRPr lang="en-US" sz="1400" dirty="0"/>
          </a:p>
          <a:p>
            <a:r>
              <a:rPr lang="en-US" sz="1400" dirty="0"/>
              <a:t>The workspace is where developers/BI developers build content. The App is the controlled, user-friendly way to deliver that content to end users.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8EE456-6DBE-52A0-1231-515D218AD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521599"/>
            <a:ext cx="4800600" cy="241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382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268318"/>
          </a:xfrm>
        </p:spPr>
        <p:txBody>
          <a:bodyPr/>
          <a:lstStyle/>
          <a:p>
            <a:r>
              <a:rPr lang="en-US" sz="1200" dirty="0"/>
              <a:t>Why do we use a Fabric App?</a:t>
            </a:r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FCFEBB-AC83-9862-A971-E36C53F7A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899346"/>
              </p:ext>
            </p:extLst>
          </p:nvPr>
        </p:nvGraphicFramePr>
        <p:xfrm>
          <a:off x="304800" y="742951"/>
          <a:ext cx="8077200" cy="277234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1547922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797308179"/>
                    </a:ext>
                  </a:extLst>
                </a:gridCol>
              </a:tblGrid>
              <a:tr h="235532">
                <a:tc>
                  <a:txBody>
                    <a:bodyPr/>
                    <a:lstStyle/>
                    <a:p>
                      <a:r>
                        <a:rPr lang="en-IN" sz="1300"/>
                        <a:t>Purpose</a:t>
                      </a:r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Explanation</a:t>
                      </a:r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394408"/>
                  </a:ext>
                </a:extLst>
              </a:tr>
              <a:tr h="358238">
                <a:tc>
                  <a:txBody>
                    <a:bodyPr/>
                    <a:lstStyle/>
                    <a:p>
                      <a:r>
                        <a:rPr lang="en-IN" sz="1300" b="1"/>
                        <a:t>Easy sharing</a:t>
                      </a:r>
                      <a:endParaRPr lang="en-IN" sz="1300"/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Share reports and dashboards with many users from one place</a:t>
                      </a:r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135831"/>
                  </a:ext>
                </a:extLst>
              </a:tr>
              <a:tr h="358238">
                <a:tc>
                  <a:txBody>
                    <a:bodyPr/>
                    <a:lstStyle/>
                    <a:p>
                      <a:r>
                        <a:rPr lang="en-IN" sz="1300" b="1" dirty="0"/>
                        <a:t>Controlled access</a:t>
                      </a:r>
                      <a:endParaRPr lang="en-IN" sz="1300" dirty="0"/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Users see only the content you choose to publish</a:t>
                      </a:r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944193"/>
                  </a:ext>
                </a:extLst>
              </a:tr>
              <a:tr h="358238">
                <a:tc>
                  <a:txBody>
                    <a:bodyPr/>
                    <a:lstStyle/>
                    <a:p>
                      <a:r>
                        <a:rPr lang="en-IN" sz="1300" b="1"/>
                        <a:t>User-friendly</a:t>
                      </a:r>
                      <a:endParaRPr lang="en-IN" sz="1300"/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Users don't need to work directly inside the development workspace</a:t>
                      </a:r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679148"/>
                  </a:ext>
                </a:extLst>
              </a:tr>
              <a:tr h="358238">
                <a:tc>
                  <a:txBody>
                    <a:bodyPr/>
                    <a:lstStyle/>
                    <a:p>
                      <a:r>
                        <a:rPr lang="en-IN" sz="1300" b="1"/>
                        <a:t>Centralized distribution</a:t>
                      </a:r>
                      <a:endParaRPr lang="en-IN" sz="1300"/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Publish multiple reports/semantic models as one application</a:t>
                      </a:r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236933"/>
                  </a:ext>
                </a:extLst>
              </a:tr>
              <a:tr h="358238">
                <a:tc>
                  <a:txBody>
                    <a:bodyPr/>
                    <a:lstStyle/>
                    <a:p>
                      <a:r>
                        <a:rPr lang="en-IN" sz="1300" b="1"/>
                        <a:t>Separate development and consumption</a:t>
                      </a:r>
                      <a:endParaRPr lang="en-IN" sz="1300"/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Developers work in the workspace; users consume the published App</a:t>
                      </a:r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77240"/>
                  </a:ext>
                </a:extLst>
              </a:tr>
              <a:tr h="358238">
                <a:tc>
                  <a:txBody>
                    <a:bodyPr/>
                    <a:lstStyle/>
                    <a:p>
                      <a:r>
                        <a:rPr lang="en-IN" sz="1300" b="1"/>
                        <a:t>Audience-based access</a:t>
                      </a:r>
                      <a:endParaRPr lang="en-IN" sz="1300"/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Different groups can receive different content</a:t>
                      </a:r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610730"/>
                  </a:ext>
                </a:extLst>
              </a:tr>
              <a:tr h="358238">
                <a:tc>
                  <a:txBody>
                    <a:bodyPr/>
                    <a:lstStyle/>
                    <a:p>
                      <a:r>
                        <a:rPr lang="en-IN" sz="1300" b="1"/>
                        <a:t>Navigation</a:t>
                      </a:r>
                      <a:endParaRPr lang="en-IN" sz="1300"/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Organize reports/pages into a clean navigation structure</a:t>
                      </a:r>
                    </a:p>
                  </a:txBody>
                  <a:tcPr marL="66555" marR="66555" marT="33278" marB="33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67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6072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184666"/>
          </a:xfrm>
        </p:spPr>
        <p:txBody>
          <a:bodyPr/>
          <a:lstStyle/>
          <a:p>
            <a:r>
              <a:rPr lang="en-IN" sz="1200" dirty="0"/>
              <a:t>Power BI Project (PBIP) 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028D0-DA41-AFA1-170B-068922057D6D}"/>
              </a:ext>
            </a:extLst>
          </p:cNvPr>
          <p:cNvSpPr txBox="1"/>
          <p:nvPr/>
        </p:nvSpPr>
        <p:spPr>
          <a:xfrm>
            <a:off x="384438" y="618971"/>
            <a:ext cx="84582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n-lt"/>
              </a:rPr>
              <a:t>What is PBIP?</a:t>
            </a:r>
          </a:p>
          <a:p>
            <a:r>
              <a:rPr lang="en-US" sz="1400" b="1" dirty="0">
                <a:latin typeface="+mn-lt"/>
              </a:rPr>
              <a:t>PBIP = Power BI Project</a:t>
            </a: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A PBIP is a </a:t>
            </a:r>
            <a:r>
              <a:rPr lang="en-US" sz="1400" b="1" dirty="0">
                <a:latin typeface="+mn-lt"/>
              </a:rPr>
              <a:t>folder-based representation of a Power BI report/project</a:t>
            </a:r>
            <a:r>
              <a:rPr lang="en-US" sz="1400" dirty="0">
                <a:latin typeface="+mn-lt"/>
              </a:rPr>
              <a:t>.</a:t>
            </a:r>
          </a:p>
          <a:p>
            <a:r>
              <a:rPr lang="en-US" sz="1400" dirty="0">
                <a:latin typeface="+mn-lt"/>
              </a:rPr>
              <a:t>Traditionally, Power BI Desktop saves a report as</a:t>
            </a:r>
            <a:r>
              <a:rPr lang="en-US" dirty="0"/>
              <a:t>:</a:t>
            </a:r>
          </a:p>
          <a:p>
            <a:r>
              <a:rPr lang="en-IN" sz="1400" dirty="0">
                <a:latin typeface="+mn-lt"/>
              </a:rPr>
              <a:t>	</a:t>
            </a:r>
            <a:r>
              <a:rPr lang="en-IN" sz="1400" dirty="0" err="1">
                <a:latin typeface="+mn-lt"/>
              </a:rPr>
              <a:t>SalesReport.pbix</a:t>
            </a:r>
            <a:endParaRPr lang="en-US" sz="1400" dirty="0"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A2B9CD-837D-31A6-E8BE-5F10BFC66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98483"/>
            <a:ext cx="3753043" cy="32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388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38" y="322232"/>
            <a:ext cx="5844097" cy="276999"/>
          </a:xfrm>
        </p:spPr>
        <p:txBody>
          <a:bodyPr/>
          <a:lstStyle/>
          <a:p>
            <a:r>
              <a:rPr lang="en-IN" sz="1800" dirty="0">
                <a:solidFill>
                  <a:srgbClr val="000000"/>
                </a:solidFill>
                <a:latin typeface="+mn-lt"/>
              </a:rPr>
              <a:t>Why was PBIP introduced?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732187-FFE9-544B-126A-8A7B21D469D8}"/>
              </a:ext>
            </a:extLst>
          </p:cNvPr>
          <p:cNvSpPr txBox="1"/>
          <p:nvPr/>
        </p:nvSpPr>
        <p:spPr>
          <a:xfrm>
            <a:off x="384438" y="742950"/>
            <a:ext cx="81499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Traditional .</a:t>
            </a:r>
            <a:r>
              <a:rPr lang="en-US" sz="1400" dirty="0" err="1">
                <a:solidFill>
                  <a:srgbClr val="000000"/>
                </a:solidFill>
                <a:latin typeface="+mn-lt"/>
              </a:rPr>
              <a:t>pbix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files work very well for individual Power BI development.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But consider a development team:</a:t>
            </a:r>
          </a:p>
          <a:p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With a .</a:t>
            </a:r>
            <a:r>
              <a:rPr lang="en-IN" sz="1400" dirty="0" err="1">
                <a:solidFill>
                  <a:srgbClr val="000000"/>
                </a:solidFill>
                <a:latin typeface="+mn-lt"/>
              </a:rPr>
              <a:t>pbix</a:t>
            </a:r>
            <a:r>
              <a:rPr lang="en-IN" sz="1400" dirty="0">
                <a:solidFill>
                  <a:srgbClr val="000000"/>
                </a:solidFill>
                <a:latin typeface="+mn-lt"/>
              </a:rPr>
              <a:t> file, collaboration and source-code management are difficult.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+mn-lt"/>
              </a:rPr>
              <a:t>SalesReport.pbix</a:t>
            </a:r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Git cannot meaningfully show: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000000"/>
                </a:solidFill>
                <a:latin typeface="+mn-lt"/>
              </a:rPr>
              <a:t>What DAX measure changed?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000000"/>
                </a:solidFill>
                <a:latin typeface="+mn-lt"/>
              </a:rPr>
              <a:t>What relationship changed?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000000"/>
                </a:solidFill>
                <a:latin typeface="+mn-lt"/>
              </a:rPr>
              <a:t>What visual changed?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000000"/>
                </a:solidFill>
                <a:latin typeface="+mn-lt"/>
              </a:rPr>
              <a:t>What table definition changed?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With PBIP, Power BI project components are stored as text-based files.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Therefore Git can track changes much more effectively.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endParaRPr lang="en-US" sz="14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72349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38" y="322232"/>
            <a:ext cx="5844097" cy="215444"/>
          </a:xfrm>
        </p:spPr>
        <p:txBody>
          <a:bodyPr/>
          <a:lstStyle/>
          <a:p>
            <a:r>
              <a:rPr lang="en-IN" sz="1400" dirty="0"/>
              <a:t>PBIP Development Model</a:t>
            </a:r>
            <a:endParaRPr lang="en-IN" sz="18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68F44-F160-0EE7-1740-F6C5413B7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66750"/>
            <a:ext cx="3511730" cy="29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947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38" y="322232"/>
            <a:ext cx="5844097" cy="215444"/>
          </a:xfrm>
        </p:spPr>
        <p:txBody>
          <a:bodyPr/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What does a PBIP project contain?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ECF7DF-DA7F-3CC1-4340-224F18F4C065}"/>
              </a:ext>
            </a:extLst>
          </p:cNvPr>
          <p:cNvSpPr txBox="1"/>
          <p:nvPr/>
        </p:nvSpPr>
        <p:spPr>
          <a:xfrm>
            <a:off x="420532" y="742950"/>
            <a:ext cx="742806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A PBIP project generally contains three important concepts: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1. Project file</a:t>
            </a: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</a:t>
            </a:r>
            <a:r>
              <a:rPr lang="en-IN" sz="1400" dirty="0" err="1">
                <a:solidFill>
                  <a:srgbClr val="000000"/>
                </a:solidFill>
                <a:latin typeface="+mn-lt"/>
              </a:rPr>
              <a:t>SalesReport.pbip</a:t>
            </a:r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This identifies the Power BI project.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2. Report definition</a:t>
            </a: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</a:t>
            </a:r>
            <a:r>
              <a:rPr lang="en-IN" sz="1400" dirty="0" err="1">
                <a:solidFill>
                  <a:srgbClr val="000000"/>
                </a:solidFill>
                <a:latin typeface="+mn-lt"/>
              </a:rPr>
              <a:t>SalesReport.Report</a:t>
            </a:r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	Contains information related to the report.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For example:</a:t>
            </a:r>
          </a:p>
          <a:p>
            <a:pPr lvl="3"/>
            <a:r>
              <a:rPr lang="en-IN" sz="1400" dirty="0">
                <a:solidFill>
                  <a:srgbClr val="000000"/>
                </a:solidFill>
                <a:latin typeface="+mn-lt"/>
              </a:rPr>
              <a:t>	pages</a:t>
            </a:r>
          </a:p>
          <a:p>
            <a:pPr lvl="3"/>
            <a:r>
              <a:rPr lang="en-IN" sz="1400" dirty="0">
                <a:solidFill>
                  <a:srgbClr val="000000"/>
                </a:solidFill>
                <a:latin typeface="+mn-lt"/>
              </a:rPr>
              <a:t>	visuals</a:t>
            </a:r>
          </a:p>
          <a:p>
            <a:pPr lvl="3"/>
            <a:r>
              <a:rPr lang="en-IN" sz="1400" dirty="0">
                <a:solidFill>
                  <a:srgbClr val="000000"/>
                </a:solidFill>
                <a:latin typeface="+mn-lt"/>
              </a:rPr>
              <a:t>	visual configurations</a:t>
            </a:r>
          </a:p>
          <a:p>
            <a:pPr lvl="3"/>
            <a:r>
              <a:rPr lang="en-IN" sz="1400" dirty="0">
                <a:solidFill>
                  <a:srgbClr val="000000"/>
                </a:solidFill>
                <a:latin typeface="+mn-lt"/>
              </a:rPr>
              <a:t>	filters</a:t>
            </a:r>
          </a:p>
          <a:p>
            <a:pPr lvl="3"/>
            <a:r>
              <a:rPr lang="en-IN" sz="1400" dirty="0">
                <a:solidFill>
                  <a:srgbClr val="000000"/>
                </a:solidFill>
                <a:latin typeface="+mn-lt"/>
              </a:rPr>
              <a:t>	report structure</a:t>
            </a:r>
          </a:p>
          <a:p>
            <a:pPr lvl="3"/>
            <a:r>
              <a:rPr lang="en-IN" sz="1400" dirty="0">
                <a:solidFill>
                  <a:srgbClr val="000000"/>
                </a:solidFill>
                <a:latin typeface="+mn-lt"/>
              </a:rPr>
              <a:t>	report metadata</a:t>
            </a:r>
          </a:p>
        </p:txBody>
      </p:sp>
    </p:spTree>
    <p:extLst>
      <p:ext uri="{BB962C8B-B14F-4D97-AF65-F5344CB8AC3E}">
        <p14:creationId xmlns:p14="http://schemas.microsoft.com/office/powerpoint/2010/main" val="11841905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38" y="322232"/>
            <a:ext cx="5844097" cy="215444"/>
          </a:xfrm>
        </p:spPr>
        <p:txBody>
          <a:bodyPr/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What does a PBIP project contain?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ECF7DF-DA7F-3CC1-4340-224F18F4C065}"/>
              </a:ext>
            </a:extLst>
          </p:cNvPr>
          <p:cNvSpPr txBox="1"/>
          <p:nvPr/>
        </p:nvSpPr>
        <p:spPr>
          <a:xfrm>
            <a:off x="420532" y="742950"/>
            <a:ext cx="742806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3. Semantic model</a:t>
            </a: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</a:t>
            </a:r>
            <a:r>
              <a:rPr lang="en-IN" sz="1400" dirty="0" err="1">
                <a:solidFill>
                  <a:srgbClr val="000000"/>
                </a:solidFill>
                <a:latin typeface="+mn-lt"/>
              </a:rPr>
              <a:t>SalesReport.SemanticModel</a:t>
            </a:r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Contains the semantic model definition.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For example:</a:t>
            </a:r>
          </a:p>
          <a:p>
            <a:endParaRPr lang="en-IN" sz="1400" dirty="0">
              <a:solidFill>
                <a:srgbClr val="000000"/>
              </a:solidFill>
              <a:latin typeface="+mn-lt"/>
            </a:endParaRP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tables</a:t>
            </a: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columns</a:t>
            </a: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measures</a:t>
            </a: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relationships</a:t>
            </a: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calculated columns</a:t>
            </a: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calculation groups</a:t>
            </a:r>
          </a:p>
          <a:p>
            <a:r>
              <a:rPr lang="en-IN" sz="1400" dirty="0">
                <a:solidFill>
                  <a:srgbClr val="000000"/>
                </a:solidFill>
                <a:latin typeface="+mn-lt"/>
              </a:rPr>
              <a:t>	model properties</a:t>
            </a:r>
          </a:p>
        </p:txBody>
      </p:sp>
    </p:spTree>
    <p:extLst>
      <p:ext uri="{BB962C8B-B14F-4D97-AF65-F5344CB8AC3E}">
        <p14:creationId xmlns:p14="http://schemas.microsoft.com/office/powerpoint/2010/main" val="36997960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B4DF-050F-F023-299C-22AB3F98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38" y="322232"/>
            <a:ext cx="5844097" cy="169277"/>
          </a:xfrm>
        </p:spPr>
        <p:txBody>
          <a:bodyPr/>
          <a:lstStyle/>
          <a:p>
            <a:r>
              <a:rPr lang="en-US" sz="1100" dirty="0"/>
              <a:t>PBIP + Power BI Deployment Pipelines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A9DD5-706D-9D1F-5328-671E4E745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742950"/>
            <a:ext cx="2559182" cy="34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799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093" y="2233930"/>
            <a:ext cx="2608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2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Thank</a:t>
            </a:r>
            <a:r>
              <a:rPr sz="4000" b="0" spc="1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You!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33336" cy="513778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3*157"/>
  <p:tag name="TABLE_ENDDRAG_RECT" val="15*78*653*15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2690</Words>
  <Application>Microsoft Office PowerPoint</Application>
  <PresentationFormat>On-screen Show (16:9)</PresentationFormat>
  <Paragraphs>505</Paragraphs>
  <Slides>67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-apple-system-body</vt:lpstr>
      <vt:lpstr>Arial</vt:lpstr>
      <vt:lpstr>Calibri</vt:lpstr>
      <vt:lpstr>Consolas</vt:lpstr>
      <vt:lpstr>Office Theme</vt:lpstr>
      <vt:lpstr>PowerPoint Presentation</vt:lpstr>
      <vt:lpstr>BUSINESS INTELLIGENCE (BI)</vt:lpstr>
      <vt:lpstr>BI vs Traditional Reporting</vt:lpstr>
      <vt:lpstr>BI Lifecycle</vt:lpstr>
      <vt:lpstr>WHAT IS POWER BI – DETAILED</vt:lpstr>
      <vt:lpstr>Power BI Components</vt:lpstr>
      <vt:lpstr>Power BI Components</vt:lpstr>
      <vt:lpstr>FEATURES OF POWER BI – DETAILED</vt:lpstr>
      <vt:lpstr>FEATURES OF POWER BI </vt:lpstr>
      <vt:lpstr>FEATURES OF POWER BI </vt:lpstr>
      <vt:lpstr>FEATURES OF POWER BI </vt:lpstr>
      <vt:lpstr>POWER BI TOOLS </vt:lpstr>
      <vt:lpstr>POWER BI TOOLS </vt:lpstr>
      <vt:lpstr>ADVANTAGES OF POWER BI</vt:lpstr>
      <vt:lpstr>DATA SOURCES – DETAILED</vt:lpstr>
      <vt:lpstr>DATA SOURCES – DETAILED</vt:lpstr>
      <vt:lpstr>Chat Types</vt:lpstr>
      <vt:lpstr>Chat Types</vt:lpstr>
      <vt:lpstr>Chat Types</vt:lpstr>
      <vt:lpstr>Chat Types</vt:lpstr>
      <vt:lpstr>Chat Types</vt:lpstr>
      <vt:lpstr>Chat Types</vt:lpstr>
      <vt:lpstr>Chat Types</vt:lpstr>
      <vt:lpstr>Chat Types</vt:lpstr>
      <vt:lpstr>Chat Types</vt:lpstr>
      <vt:lpstr>Chat Types</vt:lpstr>
      <vt:lpstr>Chat Types</vt:lpstr>
      <vt:lpstr>Chat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Power BI Security</vt:lpstr>
      <vt:lpstr>Workspace</vt:lpstr>
      <vt:lpstr>Why do we need a Workspace?</vt:lpstr>
      <vt:lpstr>Workspace Security</vt:lpstr>
      <vt:lpstr>Semantic layer</vt:lpstr>
      <vt:lpstr>Semantic Model Permission</vt:lpstr>
      <vt:lpstr>Semantic Model Permission</vt:lpstr>
      <vt:lpstr>Power BI Report Permissions</vt:lpstr>
      <vt:lpstr>Power BI Report Permissions</vt:lpstr>
      <vt:lpstr>Microsoft Fabric app</vt:lpstr>
      <vt:lpstr>Why do we use a Fabric App?</vt:lpstr>
      <vt:lpstr>Power BI Project (PBIP) </vt:lpstr>
      <vt:lpstr>Why was PBIP introduced?</vt:lpstr>
      <vt:lpstr>PBIP Development Model</vt:lpstr>
      <vt:lpstr>What does a PBIP project contain?</vt:lpstr>
      <vt:lpstr>What does a PBIP project contain?</vt:lpstr>
      <vt:lpstr>PBIP + Power BI Deployment Pipelines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GUVI proposal for CHUBB</dc:title>
  <dc:creator>udhay</dc:creator>
  <cp:lastModifiedBy>babjee reddy</cp:lastModifiedBy>
  <cp:revision>81</cp:revision>
  <dcterms:created xsi:type="dcterms:W3CDTF">2025-06-18T10:57:00Z</dcterms:created>
  <dcterms:modified xsi:type="dcterms:W3CDTF">2026-09-30T09:21:09Z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2025-06-20T01:30:00Z</vt:filetime>
  </property>
  <property fmtid="{D5CDD505-2E9C-101B-9397-08002B2CF9AE}" pid="3" name="Creator">
    <vt:lpwstr>Google</vt:lpwstr>
  </property>
  <property fmtid="{D5CDD505-2E9C-101B-9397-08002B2CF9AE}" pid="4" name="LastSaved">
    <vt:filetime>2025-06-20T01:30:00Z</vt:filetime>
  </property>
  <property fmtid="{D5CDD505-2E9C-101B-9397-08002B2CF9AE}" pid="5" name="ICV">
    <vt:lpwstr>0A2D59A8CC6044A794DCDEA619BB346F_13</vt:lpwstr>
  </property>
  <property fmtid="{D5CDD505-2E9C-101B-9397-08002B2CF9AE}" pid="6" name="KSOProductBuildVer">
    <vt:lpwstr>2057-12.2.0.23203</vt:lpwstr>
  </property>
</Properties>
</file>