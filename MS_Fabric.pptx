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62" r:id="rId3"/>
    <p:sldId id="523" r:id="rId4"/>
    <p:sldId id="527" r:id="rId5"/>
    <p:sldId id="524" r:id="rId6"/>
    <p:sldId id="528" r:id="rId7"/>
    <p:sldId id="529" r:id="rId8"/>
    <p:sldId id="530" r:id="rId9"/>
    <p:sldId id="525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43" r:id="rId23"/>
    <p:sldId id="546" r:id="rId24"/>
    <p:sldId id="547" r:id="rId25"/>
    <p:sldId id="548" r:id="rId26"/>
    <p:sldId id="544" r:id="rId27"/>
    <p:sldId id="545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261" r:id="rId4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4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520" y="56"/>
      </p:cViewPr>
      <p:guideLst>
        <p:guide orient="horz" pos="2874"/>
        <p:guide pos="21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564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altLang="en-IN" sz="3700" b="1" spc="2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Fabric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18200" y="4106305"/>
            <a:ext cx="1093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Confidential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Microsoft Fabric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6979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Microsoft Fabric is an end-to-end cloud analytics platform from Microsoft that brings data integration, data engineering, data warehousing, data science, real-time analytics, and Power BI into a single platform.</a:t>
            </a:r>
          </a:p>
          <a:p>
            <a:pPr>
              <a:spcBef>
                <a:spcPts val="600"/>
              </a:spcBef>
            </a:pP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Simple definition for students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Microsoft Fabric is a unified analytics platform where we can ingest, store, transform, analyze, and visualize data in one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080" y="321945"/>
            <a:ext cx="7542530" cy="307340"/>
          </a:xfrm>
        </p:spPr>
        <p:txBody>
          <a:bodyPr wrap="square"/>
          <a:lstStyle/>
          <a:p>
            <a:r>
              <a:rPr lang="en-US" altLang="en-GB" sz="2000" dirty="0"/>
              <a:t>Traditional approach			Fabric approch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524000" y="819150"/>
            <a:ext cx="457200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GB" sz="1200"/>
              <a:t>Data Sources</a:t>
            </a:r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Azure Data Factory</a:t>
            </a:r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Data Lake</a:t>
            </a:r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Databricks / Spark</a:t>
            </a:r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SQL Data Warehouse</a:t>
            </a:r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Power BI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962400" y="629285"/>
            <a:ext cx="64954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GB" sz="1200"/>
              <a:t>                 	        Microsoft Fabric</a:t>
            </a:r>
          </a:p>
          <a:p>
            <a:r>
              <a:rPr lang="en-US" altLang="en-GB" sz="1200"/>
              <a:t>                     		  </a:t>
            </a:r>
            <a:r>
              <a:rPr lang="en-US" altLang="en-US" sz="1200"/>
              <a:t>│</a:t>
            </a:r>
          </a:p>
          <a:p>
            <a:r>
              <a:rPr lang="en-US" altLang="en-GB" sz="1200"/>
              <a:t>        </a:t>
            </a:r>
            <a:r>
              <a:rPr lang="en-US" altLang="en-US" sz="1200"/>
              <a:t>┌────────────────────────────┐</a:t>
            </a:r>
          </a:p>
          <a:p>
            <a:r>
              <a:rPr lang="en-US" altLang="en-GB" sz="1200"/>
              <a:t>        </a:t>
            </a:r>
            <a:r>
              <a:rPr lang="en-US" altLang="en-US" sz="1200"/>
              <a:t>↓</a:t>
            </a:r>
            <a:r>
              <a:rPr lang="en-US" altLang="en-GB" sz="1200"/>
              <a:t>                           	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   Data Factory    Data Engineering  	        Warehouse</a:t>
            </a:r>
          </a:p>
          <a:p>
            <a:r>
              <a:rPr lang="en-US" altLang="en-GB" sz="1200"/>
              <a:t>        </a:t>
            </a:r>
            <a:r>
              <a:rPr lang="en-US" altLang="en-US" sz="1200"/>
              <a:t>↓</a:t>
            </a:r>
            <a:r>
              <a:rPr lang="en-US" altLang="en-GB" sz="1200"/>
              <a:t>                            </a:t>
            </a:r>
            <a:r>
              <a:rPr lang="en-US" altLang="en-US" sz="1200"/>
              <a:t>↓		                 </a:t>
            </a:r>
            <a:r>
              <a:rPr lang="en-US" altLang="en-US" sz="1200">
                <a:sym typeface="+mn-ea"/>
              </a:rPr>
              <a:t>↓</a:t>
            </a:r>
            <a:endParaRPr lang="en-US" altLang="en-US" sz="1200"/>
          </a:p>
          <a:p>
            <a:r>
              <a:rPr lang="en-US" altLang="en-GB" sz="1200"/>
              <a:t>                 	            OneLake</a:t>
            </a:r>
          </a:p>
          <a:p>
            <a:r>
              <a:rPr lang="en-US" altLang="en-GB" sz="1200"/>
              <a:t>                     	                  </a:t>
            </a:r>
            <a:r>
              <a:rPr lang="en-US" altLang="en-US" sz="1200"/>
              <a:t>↓</a:t>
            </a:r>
          </a:p>
          <a:p>
            <a:r>
              <a:rPr lang="en-US" altLang="en-GB" sz="1200"/>
              <a:t>                  	          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Why Microsoft Fabric?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17004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The main reason for Fabric is unification.</a:t>
            </a:r>
          </a:p>
          <a:p>
            <a:pPr>
              <a:spcBef>
                <a:spcPts val="600"/>
              </a:spcBef>
            </a:pPr>
            <a:r>
              <a:rPr lang="en-US" altLang="en-GB" dirty="0"/>
              <a:t>Without Fabric You may have: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 Factory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 Lake Storage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Databricks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Synapse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Power BI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Separate security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Separate monitoring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Multiple tools</a:t>
            </a:r>
          </a:p>
          <a:p>
            <a:pPr lvl="0">
              <a:spcBef>
                <a:spcPts val="600"/>
              </a:spcBef>
            </a:pPr>
            <a:r>
              <a:rPr lang="en-US" altLang="en-GB" dirty="0"/>
              <a:t>With Fabric</a:t>
            </a:r>
          </a:p>
          <a:p>
            <a:pPr lvl="0" indent="457200">
              <a:spcBef>
                <a:spcPts val="600"/>
              </a:spcBef>
            </a:pPr>
            <a:r>
              <a:rPr lang="en-US" altLang="en-GB" dirty="0"/>
              <a:t>Many of these capabilities are available through a single SaaS analytics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Key benefits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170045"/>
          </a:xfrm>
        </p:spPr>
        <p:txBody>
          <a:bodyPr/>
          <a:lstStyle/>
          <a:p>
            <a:pPr lvl="1">
              <a:spcBef>
                <a:spcPts val="600"/>
              </a:spcBef>
            </a:pPr>
            <a:r>
              <a:rPr lang="en-US" altLang="en-GB" dirty="0"/>
              <a:t>One platform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OneLake centralized storage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Integrated workloads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Less data movement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Easy integration with Power BI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Centralized governance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Shared security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engineering with Spark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warehousing with SQL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pipelines and Dataflows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Real-time analytics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AI and data science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OneLake?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55372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OneLake is Microsoft Fabric's unified, tenant-wide data lake that provides a single storage layer for Fabric workloads..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581150"/>
            <a:ext cx="311150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What is a Lakehouse?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1544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Lakehouse combines concepts of: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Lake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Warehouse</a:t>
            </a:r>
          </a:p>
          <a:p>
            <a:pPr lvl="0">
              <a:spcBef>
                <a:spcPts val="600"/>
              </a:spcBef>
            </a:pPr>
            <a:r>
              <a:rPr lang="en-US" altLang="en-GB" dirty="0"/>
              <a:t>It allows us to store large amounts of data in a lake while also providing structured tables and SQL capabilities.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00350"/>
            <a:ext cx="25400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contains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1544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Lakehouse combines concepts of: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Lake</a:t>
            </a:r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Warehouse</a:t>
            </a:r>
          </a:p>
          <a:p>
            <a:pPr lvl="0">
              <a:spcBef>
                <a:spcPts val="600"/>
              </a:spcBef>
            </a:pPr>
            <a:r>
              <a:rPr lang="en-US" altLang="en-GB" dirty="0"/>
              <a:t>It allows us to store large amounts of data in a lake while also providing structured tables and SQL capabilities.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00350"/>
            <a:ext cx="25400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contains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42950"/>
            <a:ext cx="2101850" cy="13906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3080" y="2419033"/>
            <a:ext cx="5080000" cy="24199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400" b="1"/>
              <a:t>When to use Lakehouse?</a:t>
            </a:r>
          </a:p>
          <a:p>
            <a:r>
              <a:rPr lang="en-US" altLang="zh-CN" sz="1600"/>
              <a:t>Use a Lakehouse when you need: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Spark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PySpark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Data engineering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Large-scale data processing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Data science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Semi-structured data </a:t>
            </a:r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Structured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a Workspace?</a:t>
            </a:r>
            <a:endParaRPr lang="en-US" altLang="en-GB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1635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Workspace is a logical container where Fabric items are created, stored, and managed.</a:t>
            </a:r>
          </a:p>
          <a:p>
            <a:pPr lvl="0">
              <a:spcBef>
                <a:spcPts val="600"/>
              </a:spcBef>
            </a:pP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GB" dirty="0"/>
              <a:t>Workspace: SalesAnalytics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│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Lakehouse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Warehouse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Data Pipeline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Dataflow Gen2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Notebook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Semantic Model</a:t>
            </a:r>
          </a:p>
          <a:p>
            <a:pPr lvl="0">
              <a:spcBef>
                <a:spcPts val="600"/>
              </a:spcBef>
            </a:pPr>
            <a:r>
              <a:rPr lang="en-US" altLang="en-US" dirty="0"/>
              <a:t>└──</a:t>
            </a:r>
            <a:r>
              <a:rPr lang="en-US" altLang="en-GB" dirty="0"/>
              <a:t> Power BI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For example: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" y="895350"/>
            <a:ext cx="3390900" cy="17208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13080" y="2882265"/>
            <a:ext cx="5080000" cy="2232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800" b="0">
                <a:latin typeface="+mn-lt"/>
                <a:cs typeface="+mn-lt"/>
              </a:rPr>
              <a:t>Workspace is also important for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Collaboration 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Security 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Permissions 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Development 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Deployment </a:t>
            </a: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Organizing Fabric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zh-CN" sz="2000">
                <a:sym typeface="+mn-ea"/>
              </a:rPr>
              <a:t>What is SQL Analytics Endpoint?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600"/>
              <a:t>When you create a Lakehouse, Fabric provides a SQL Analytics Endpoint that allows you to query the Lakehouse tables using SQL.</a:t>
            </a:r>
          </a:p>
          <a:p>
            <a:r>
              <a:rPr lang="en-US" altLang="zh-CN" sz="1600"/>
              <a:t>For example:</a:t>
            </a:r>
          </a:p>
          <a:p>
            <a:endParaRPr lang="en-US" altLang="zh-CN" sz="1600"/>
          </a:p>
          <a:p>
            <a:r>
              <a:rPr lang="en-US" altLang="en-GB" sz="1600"/>
              <a:t>SELECT *</a:t>
            </a:r>
          </a:p>
          <a:p>
            <a:r>
              <a:rPr lang="en-US" altLang="en-GB" sz="1600"/>
              <a:t>FROM Customers;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95550"/>
            <a:ext cx="499745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>
                <a:sym typeface="+mn-ea"/>
              </a:rPr>
              <a:t>What is a Warehouse?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GB" sz="1600"/>
              <a:t>A Fabric Warehouse is a relational data warehouse designed primarily for SQL-based analytical workloads.</a:t>
            </a:r>
          </a:p>
          <a:p>
            <a:endParaRPr lang="en-US" altLang="en-GB" sz="1600"/>
          </a:p>
          <a:p>
            <a:r>
              <a:rPr lang="en-US" altLang="en-GB" sz="1600"/>
              <a:t>Example: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Sales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Customer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Product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Date</a:t>
            </a:r>
          </a:p>
          <a:p>
            <a:pPr lvl="4"/>
            <a:endParaRPr lang="en-US" altLang="en-GB" sz="1600"/>
          </a:p>
          <a:p>
            <a:pPr lvl="4"/>
            <a:r>
              <a:rPr lang="en-US" altLang="en-GB" sz="1600"/>
              <a:t>Warehouse is suitable for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Structured data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SQL developers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Dimensional modeling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Star schemas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BI reporting</a:t>
            </a:r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Analytical 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vs Warehouse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525145" y="895350"/>
          <a:ext cx="7863840" cy="19202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Lakehouse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Warehouse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Data lake + tables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Data warehouse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Spark + SQL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Primarily SQL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Structured + semi-structured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Primarily structured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Data engineering friendly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SQL/BI friendly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Files + Tables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Tables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Great for engineering/data science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Great for analytical SQL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09600" y="3181667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Lakehouse → Data Engineers + Spark + SQL</a:t>
            </a:r>
          </a:p>
          <a:p>
            <a:r>
              <a:rPr lang="en-US" altLang="zh-CN" sz="1600"/>
              <a:t>Warehouse → SQL Developers + BI +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>
                <a:sym typeface="+mn-ea"/>
              </a:rPr>
              <a:t>What is a Workload?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GB" sz="1600"/>
              <a:t>A workload represents a specific type of analytics activity performed within Fabric.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209800" y="1352550"/>
            <a:ext cx="4572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GB" sz="1400"/>
              <a:t>Data Engineer</a:t>
            </a:r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</a:p>
          <a:p>
            <a:r>
              <a:rPr lang="en-US" altLang="en-GB" sz="1400"/>
              <a:t>Data Engineering</a:t>
            </a:r>
          </a:p>
          <a:p>
            <a:endParaRPr lang="en-US" altLang="en-GB" sz="1400"/>
          </a:p>
          <a:p>
            <a:r>
              <a:rPr lang="en-US" altLang="en-GB" sz="1400"/>
              <a:t>Data Analyst</a:t>
            </a:r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</a:p>
          <a:p>
            <a:r>
              <a:rPr lang="en-US" altLang="en-GB" sz="1400"/>
              <a:t>Power BI</a:t>
            </a:r>
          </a:p>
          <a:p>
            <a:endParaRPr lang="en-US" altLang="en-GB" sz="1400"/>
          </a:p>
          <a:p>
            <a:r>
              <a:rPr lang="en-US" altLang="en-GB" sz="1400"/>
              <a:t>SQL Developer</a:t>
            </a:r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</a:p>
          <a:p>
            <a:r>
              <a:rPr lang="en-US" altLang="en-GB" sz="1400"/>
              <a:t>Data Warehouse</a:t>
            </a:r>
          </a:p>
          <a:p>
            <a:endParaRPr lang="en-US" altLang="en-GB" sz="1400"/>
          </a:p>
          <a:p>
            <a:r>
              <a:rPr lang="en-US" altLang="en-GB" sz="1400"/>
              <a:t>Data Scientist</a:t>
            </a:r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</a:p>
          <a:p>
            <a:r>
              <a:rPr lang="en-US" altLang="en-GB" sz="1400"/>
              <a:t>Data Science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Types of Fabric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GB" sz="1800">
                <a:latin typeface="+mj-lt"/>
                <a:cs typeface="+mj-lt"/>
              </a:rPr>
              <a:t>A workload represents a specific type of analytics activity performed within Fabric.</a:t>
            </a:r>
          </a:p>
          <a:p>
            <a:endParaRPr lang="en-US" altLang="en-GB" sz="1800">
              <a:latin typeface="+mj-lt"/>
              <a:cs typeface="+mj-lt"/>
            </a:endParaRPr>
          </a:p>
          <a:p>
            <a:r>
              <a:rPr lang="en-US" altLang="en-GB" sz="1800" b="1">
                <a:latin typeface="+mj-lt"/>
                <a:cs typeface="+mj-lt"/>
              </a:rPr>
              <a:t>1. Data Factory</a:t>
            </a:r>
          </a:p>
          <a:p>
            <a:pPr marL="0" lvl="1" indent="0">
              <a:buNone/>
            </a:pPr>
            <a:r>
              <a:rPr lang="en-US" altLang="en-GB" sz="1800">
                <a:latin typeface="+mj-lt"/>
                <a:cs typeface="+mj-lt"/>
              </a:rPr>
              <a:t>Used for: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 ingestion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 integration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Pipelines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Dataflows</a:t>
            </a:r>
          </a:p>
          <a:p>
            <a:r>
              <a:rPr lang="en-US" altLang="en-GB" sz="1800" b="1">
                <a:latin typeface="+mj-lt"/>
                <a:cs typeface="+mj-lt"/>
              </a:rPr>
              <a:t>2. Data Engineering</a:t>
            </a:r>
          </a:p>
          <a:p>
            <a:r>
              <a:rPr lang="en-US" altLang="en-GB" sz="1800">
                <a:latin typeface="+mj-lt"/>
                <a:cs typeface="+mj-lt"/>
              </a:rPr>
              <a:t>Used for: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Spark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PySpark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Notebooks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Lakehouse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Big data processing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altLang="en-GB" sz="18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Types of Fabric Workloads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667"/>
            <a:ext cx="5080000" cy="3930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800" b="1">
                <a:latin typeface="+mn-lt"/>
                <a:cs typeface="+mn-lt"/>
              </a:rPr>
              <a:t>Data Science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lang="en-US" altLang="zh-CN" sz="1800">
                <a:latin typeface="+mn-lt"/>
                <a:cs typeface="+mn-lt"/>
              </a:rPr>
              <a:t>U</a:t>
            </a: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sed for:</a:t>
            </a: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 Machine</a:t>
            </a:r>
            <a:r>
              <a:rPr lang="en-US" altLang="zh-CN" sz="1800">
                <a:latin typeface="+mn-lt"/>
                <a:cs typeface="+mn-lt"/>
              </a:rPr>
              <a:t> learning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Data exploration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Experiments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ML models </a:t>
            </a:r>
          </a:p>
          <a:p>
            <a:pPr>
              <a:lnSpc>
                <a:spcPct val="70000"/>
              </a:lnSpc>
              <a:spcAft>
                <a:spcPct val="60000"/>
              </a:spcAft>
            </a:pPr>
            <a:r>
              <a:rPr lang="en-US" altLang="zh-CN" sz="1800" b="1">
                <a:latin typeface="+mn-lt"/>
                <a:cs typeface="+mn-lt"/>
              </a:rPr>
              <a:t>4. Data Warehouse</a:t>
            </a:r>
          </a:p>
          <a:p>
            <a:pPr>
              <a:lnSpc>
                <a:spcPct val="70000"/>
              </a:lnSpc>
            </a:pPr>
            <a:r>
              <a:rPr lang="en-US" altLang="zh-CN" sz="1800">
                <a:latin typeface="+mn-lt"/>
                <a:cs typeface="+mn-lt"/>
              </a:rPr>
              <a:t>Used for: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SQL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Relational data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Analytical queries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Data warehousing </a:t>
            </a:r>
          </a:p>
          <a:p>
            <a:pPr>
              <a:spcAft>
                <a:spcPct val="60000"/>
              </a:spcAft>
            </a:pPr>
            <a:endParaRPr lang="en-US" altLang="zh-CN"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dirty="0">
                <a:sym typeface="+mn-ea"/>
              </a:rPr>
              <a:t>Types of Fabric Workloads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667"/>
            <a:ext cx="5080000" cy="17532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lang="en-US" altLang="en-GB" sz="1800" b="1">
                <a:latin typeface="+mn-lt"/>
                <a:cs typeface="+mn-lt"/>
              </a:rPr>
              <a:t>6. </a:t>
            </a:r>
            <a:r>
              <a:rPr kumimoji="0" lang="en-US" altLang="en-GB" sz="1800" b="1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Power BI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Used for:</a:t>
            </a: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1800">
                <a:latin typeface="+mn-lt"/>
                <a:cs typeface="+mn-lt"/>
              </a:rPr>
              <a:t>S</a:t>
            </a: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emantic models</a:t>
            </a: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Reports</a:t>
            </a: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Dashboards</a:t>
            </a: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Visualization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 Factory in Fabric?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Factory is the Fabric workload used for data integration and data ingestion.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It helps us move and transform data from different sources into Fabric.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90750"/>
            <a:ext cx="3644900" cy="2101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 Factory in Fabric?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Factory provides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Pipelines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Copy Data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Dataflow Gen2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integration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Scheduling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Orchestration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a Pipeline?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A Pipeline is an orchestration mechanism used to execute a series of data activities in a specific order.</a:t>
            </a:r>
          </a:p>
          <a:p>
            <a:pPr marL="0" marR="0" lvl="1" indent="45720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For example: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1840"/>
            <a:ext cx="3067050" cy="1873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Copy Data Activity?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Copy Data is an activity inside a pipeline used to move data from a source to a destination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657350"/>
            <a:ext cx="4000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b="1" dirty="0" err="1"/>
              <a:t>Eventstream</a:t>
            </a:r>
            <a:endParaRPr lang="en-GB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Eventstream</a:t>
            </a:r>
            <a:r>
              <a:rPr lang="en-US" sz="1400" dirty="0"/>
              <a:t> in Microsoft Fabric is a </a:t>
            </a:r>
            <a:r>
              <a:rPr lang="en-US" sz="1400" b="1" dirty="0"/>
              <a:t>real-time data ingestion and processing service</a:t>
            </a:r>
            <a:r>
              <a:rPr lang="en-US" sz="1400" dirty="0"/>
              <a:t>. It continuously receives streaming data from sources such as applications, IoT devices, stock feeds, logs, and Event Hubs, and routes that data to one or more destinations.</a:t>
            </a:r>
          </a:p>
          <a:p>
            <a:endParaRPr lang="en-US" sz="1400" dirty="0"/>
          </a:p>
          <a:p>
            <a:r>
              <a:rPr lang="en-US" sz="1400" dirty="0"/>
              <a:t>Suppose you receive stock data every second: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F7C68-05BD-9F1C-5515-E42238D2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99306"/>
            <a:ext cx="2692538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36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b="1" dirty="0" err="1"/>
              <a:t>Eventstream</a:t>
            </a:r>
            <a:endParaRPr lang="en-GB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Eventstream</a:t>
            </a:r>
            <a:r>
              <a:rPr lang="en-US" sz="1400" dirty="0"/>
              <a:t> in Microsoft Fabric is a </a:t>
            </a:r>
            <a:r>
              <a:rPr lang="en-US" sz="1400" b="1" dirty="0"/>
              <a:t>real-time data ingestion and processing service</a:t>
            </a:r>
            <a:r>
              <a:rPr lang="en-US" sz="1400" dirty="0"/>
              <a:t>. It continuously receives streaming data from sources such as applications, IoT devices, stock feeds, logs, and Event Hubs, and routes that data to one or more destinations.</a:t>
            </a:r>
          </a:p>
          <a:p>
            <a:endParaRPr lang="en-US" sz="1400" dirty="0"/>
          </a:p>
          <a:p>
            <a:r>
              <a:rPr lang="en-US" sz="1400" dirty="0"/>
              <a:t>Suppose you receive stock data every second: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F7C68-05BD-9F1C-5515-E42238D2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99306"/>
            <a:ext cx="2692538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84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69564"/>
            <a:ext cx="5715635" cy="368935"/>
          </a:xfrm>
        </p:spPr>
        <p:txBody>
          <a:bodyPr/>
          <a:lstStyle/>
          <a:p>
            <a:r>
              <a:rPr lang="en-US" b="1" dirty="0" err="1"/>
              <a:t>Eventstream</a:t>
            </a:r>
            <a:endParaRPr lang="en-GB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30F1A-6FF7-3866-4165-BE4FECF05810}"/>
              </a:ext>
            </a:extLst>
          </p:cNvPr>
          <p:cNvSpPr txBox="1"/>
          <p:nvPr/>
        </p:nvSpPr>
        <p:spPr>
          <a:xfrm>
            <a:off x="609600" y="742295"/>
            <a:ext cx="6248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does </a:t>
            </a:r>
            <a:r>
              <a:rPr lang="en-US" sz="1400" b="1" dirty="0" err="1"/>
              <a:t>Eventstream</a:t>
            </a:r>
            <a:r>
              <a:rPr lang="en-US" sz="1400" b="1" dirty="0"/>
              <a:t> do?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Receive real-time events</a:t>
            </a:r>
            <a:r>
              <a:rPr lang="en-US" sz="1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Azure Event Hubs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Custom applications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IoT data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Real-time feeds 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Process/filter events</a:t>
            </a:r>
            <a:r>
              <a:rPr lang="en-US" sz="1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Filter records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Transform data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Manage event fields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Route different events to different destinations 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Send data to destinations</a:t>
            </a:r>
            <a:r>
              <a:rPr lang="en-US" sz="1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 err="1"/>
              <a:t>Eventhouse</a:t>
            </a:r>
            <a:r>
              <a:rPr lang="en-US" sz="1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Lakehouse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Custom endpoints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Other supported Fabric destinations 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Enable real-time analytics</a:t>
            </a:r>
            <a:r>
              <a:rPr lang="en-US" sz="1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KQL queries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Real-time dashboards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Power BI real-time reporting</a:t>
            </a:r>
          </a:p>
        </p:txBody>
      </p:sp>
    </p:spTree>
    <p:extLst>
      <p:ext uri="{BB962C8B-B14F-4D97-AF65-F5344CB8AC3E}">
        <p14:creationId xmlns:p14="http://schemas.microsoft.com/office/powerpoint/2010/main" val="2358609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Dataflow Gen2?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Dataflow Gen2 is a low-code/no-code data transformation and integration capability in Fabric.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It is based on the Power Query experience.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You can perform transformations such as:</a:t>
            </a: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Filter rows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Remove columns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Rename columns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Change data types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Merge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Append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Group By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Replace values</a:t>
            </a: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Derived columns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altLang="en-GB"/>
              <a:t>Dataflow Gen2 vs Copy Data</a:t>
            </a:r>
          </a:p>
        </p:txBody>
      </p:sp>
      <p:graphicFrame>
        <p:nvGraphicFramePr>
          <p:cNvPr id="2" name="Table 1"/>
          <p:cNvGraphicFramePr/>
          <p:nvPr/>
        </p:nvGraphicFramePr>
        <p:xfrm>
          <a:off x="609600" y="876935"/>
          <a:ext cx="7863840" cy="16459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Copy Data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Dataflow Gen2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Mainly moves data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Moves + transforms data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Simple ingestion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Transformation-focused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Pipeline activity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Power Query experience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Low transformation capability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Rich transformations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/>
                        <a:t>A → B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Source → Transform → Destination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Deployment Pipeline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</a:t>
            </a:r>
            <a:r>
              <a:rPr lang="en-US" sz="1400" b="1" dirty="0"/>
              <a:t>Deployment Pipeline</a:t>
            </a:r>
            <a:r>
              <a:rPr lang="en-US" sz="1400" dirty="0"/>
              <a:t> in Power BI Service is a feature used to </a:t>
            </a:r>
            <a:r>
              <a:rPr lang="en-US" sz="1400" b="1" dirty="0"/>
              <a:t>move Power BI content through different development stages</a:t>
            </a:r>
            <a:r>
              <a:rPr lang="en-US" sz="1400" dirty="0"/>
              <a:t> in a </a:t>
            </a:r>
            <a:r>
              <a:rPr lang="en-US" sz="1400" dirty="0">
                <a:latin typeface="+mn-lt"/>
              </a:rPr>
              <a:t>controlled</a:t>
            </a:r>
            <a:r>
              <a:rPr lang="en-US" sz="1400" dirty="0"/>
              <a:t> and organized way.</a:t>
            </a:r>
          </a:p>
          <a:p>
            <a:endParaRPr lang="en-US" sz="1400" dirty="0"/>
          </a:p>
          <a:p>
            <a:r>
              <a:rPr lang="en-US" sz="1400" dirty="0"/>
              <a:t>Suppose you are developing a Power BI sales report.</a:t>
            </a:r>
          </a:p>
          <a:p>
            <a:r>
              <a:rPr lang="en-US" sz="1400" dirty="0"/>
              <a:t>You don't want to directly modify the report that business users are currently using.</a:t>
            </a:r>
          </a:p>
          <a:p>
            <a:endParaRPr lang="en-US" sz="1400" dirty="0"/>
          </a:p>
          <a:p>
            <a:r>
              <a:rPr lang="en-US" sz="1400" b="1" dirty="0"/>
              <a:t>Development</a:t>
            </a:r>
          </a:p>
          <a:p>
            <a:r>
              <a:rPr lang="en-US" sz="1400" dirty="0"/>
              <a:t>This is where developers create and modify: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Reports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Semantic models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Dashboards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Dataflows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Other supported Power BI/Fabric content</a:t>
            </a:r>
          </a:p>
          <a:p>
            <a:endParaRPr lang="en-US" sz="1400" dirty="0"/>
          </a:p>
          <a:p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9283F-8643-38E1-A181-1103E1D4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90750"/>
            <a:ext cx="2006703" cy="1530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7782E1-8C75-58CF-C524-E0E9AD213A81}"/>
              </a:ext>
            </a:extLst>
          </p:cNvPr>
          <p:cNvSpPr txBox="1"/>
          <p:nvPr/>
        </p:nvSpPr>
        <p:spPr>
          <a:xfrm>
            <a:off x="609600" y="4100354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You can make changes without affecting production users.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2958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Deployment Pipeline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6629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n-lt"/>
              </a:rPr>
              <a:t>Test</a:t>
            </a:r>
          </a:p>
          <a:p>
            <a:r>
              <a:rPr lang="en-US" sz="1400" dirty="0">
                <a:latin typeface="+mn-lt"/>
              </a:rPr>
              <a:t>The content is deployed from Development to Test.</a:t>
            </a:r>
          </a:p>
          <a:p>
            <a:r>
              <a:rPr lang="en-US" sz="1400" dirty="0">
                <a:latin typeface="+mn-lt"/>
              </a:rPr>
              <a:t>Testers/business analysts can verify: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Data is correct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DAX calculations are correct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Filters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RLS 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Visuals are correct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Performance is acceptable </a:t>
            </a:r>
          </a:p>
          <a:p>
            <a:r>
              <a:rPr lang="en-US" sz="1400" dirty="0">
                <a:latin typeface="+mn-lt"/>
              </a:rPr>
              <a:t>For 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5ABBD-8689-8AA9-6B1E-8EAD19333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81922"/>
            <a:ext cx="2121009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20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Deployment Pipeline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6629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Production</a:t>
            </a:r>
          </a:p>
          <a:p>
            <a:r>
              <a:rPr lang="en-US" sz="1400" dirty="0"/>
              <a:t>After testing is completed, deploy the approved content to Production.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8992D-D0A2-F76B-11F0-FCE28709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7" y="1551928"/>
            <a:ext cx="1911448" cy="16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67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Deployment Pipeline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6629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 a modern Power BI project, you can use both: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2202D-C79D-C971-23F9-BA9125897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00" y="1450760"/>
            <a:ext cx="2114659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61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sz="2400" dirty="0"/>
              <a:t>Power BI REST API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REST API (Representational State Transfer Application Programming Interface) allows applications to communicate with each other over HTTP.</a:t>
            </a:r>
          </a:p>
          <a:p>
            <a:endParaRPr lang="en-US" sz="1400" dirty="0"/>
          </a:p>
          <a:p>
            <a:r>
              <a:rPr lang="en-US" sz="1400" dirty="0"/>
              <a:t>For 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78B76-7B49-5ADF-438C-187D540D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9260"/>
            <a:ext cx="1625684" cy="12383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58191D-9377-7655-D997-EB9E9004EB32}"/>
              </a:ext>
            </a:extLst>
          </p:cNvPr>
          <p:cNvSpPr txBox="1"/>
          <p:nvPr/>
        </p:nvSpPr>
        <p:spPr>
          <a:xfrm>
            <a:off x="228600" y="3326234"/>
            <a:ext cx="861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Instead of manually performing an operation in Power BI Service, an application can perform it programmatically using an API.</a:t>
            </a:r>
          </a:p>
        </p:txBody>
      </p:sp>
    </p:spTree>
    <p:extLst>
      <p:ext uri="{BB962C8B-B14F-4D97-AF65-F5344CB8AC3E}">
        <p14:creationId xmlns:p14="http://schemas.microsoft.com/office/powerpoint/2010/main" val="3835547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sz="2400" dirty="0"/>
              <a:t>Power BI REST API</a:t>
            </a:r>
            <a:endParaRPr lang="en-US" alt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86868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Why do we use REST API in Power BI?</a:t>
            </a:r>
          </a:p>
          <a:p>
            <a:r>
              <a:rPr lang="en-US" sz="1400" dirty="0"/>
              <a:t>Power BI Service provides many operations that can be automated.</a:t>
            </a:r>
          </a:p>
          <a:p>
            <a:r>
              <a:rPr lang="en-US" sz="1400" dirty="0"/>
              <a:t>For example:</a:t>
            </a:r>
          </a:p>
          <a:p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Create workspaces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Get workspace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Get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Get 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Get semantic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Refresh semantic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Deploy content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Manage users and permissions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Export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Run queries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Monitor Power BI resources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54E36-331D-33CD-2C6A-AC2EEE27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956353"/>
            <a:ext cx="2444876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50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sz="2400" b="1" dirty="0"/>
              <a:t>How REST API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CF92B-9E99-9A26-2A8C-B3F568B9E2D5}"/>
              </a:ext>
            </a:extLst>
          </p:cNvPr>
          <p:cNvSpPr txBox="1"/>
          <p:nvPr/>
        </p:nvSpPr>
        <p:spPr>
          <a:xfrm>
            <a:off x="228600" y="8631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basic communication 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92C06-25F7-3509-3EDD-31CD451E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18570"/>
            <a:ext cx="1778091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64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sz="2400" b="1" dirty="0"/>
              <a:t>REST API </a:t>
            </a:r>
            <a:r>
              <a:rPr lang="en-US" dirty="0"/>
              <a:t>methods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7AC7EA-E241-2981-5A8A-4E0874EDF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5588"/>
            <a:ext cx="7131417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291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IN" sz="2400" dirty="0"/>
              <a:t>Example: Get 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21D0A-C273-A8DB-3358-781F8A3BF42F}"/>
              </a:ext>
            </a:extLst>
          </p:cNvPr>
          <p:cNvSpPr txBox="1"/>
          <p:nvPr/>
        </p:nvSpPr>
        <p:spPr>
          <a:xfrm>
            <a:off x="381000" y="895350"/>
            <a:ext cx="6477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+mn-lt"/>
              </a:rPr>
              <a:t>Suppose you want to retrieve reports from a workspace.</a:t>
            </a:r>
          </a:p>
          <a:p>
            <a:r>
              <a:rPr lang="en-IN" sz="1400" dirty="0">
                <a:latin typeface="+mn-lt"/>
              </a:rPr>
              <a:t>Your application sends a:</a:t>
            </a:r>
          </a:p>
          <a:p>
            <a:r>
              <a:rPr lang="en-IN" sz="1400" dirty="0">
                <a:latin typeface="+mn-lt"/>
              </a:rPr>
              <a:t>	GET Request</a:t>
            </a:r>
          </a:p>
          <a:p>
            <a:r>
              <a:rPr lang="en-IN" sz="1400" dirty="0">
                <a:latin typeface="+mn-lt"/>
              </a:rPr>
              <a:t>to the Power BI REST API.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DEF50E-14C3-03B1-6C90-88D3D381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00" y="2053640"/>
            <a:ext cx="2806844" cy="2216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FE955D-EEF6-B914-980A-04163BC3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855" y="1849457"/>
            <a:ext cx="4762745" cy="277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44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dirty="0"/>
              <a:t>Power BI REST API Use Cases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D1946-9426-4E83-4A01-37D26D39097B}"/>
              </a:ext>
            </a:extLst>
          </p:cNvPr>
          <p:cNvSpPr txBox="1"/>
          <p:nvPr/>
        </p:nvSpPr>
        <p:spPr>
          <a:xfrm>
            <a:off x="457200" y="715660"/>
            <a:ext cx="769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n-lt"/>
              </a:rPr>
              <a:t>Use Case 1 — Refresh Semantic Model</a:t>
            </a:r>
          </a:p>
          <a:p>
            <a:r>
              <a:rPr lang="en-US" sz="1400" dirty="0">
                <a:latin typeface="+mn-lt"/>
              </a:rPr>
              <a:t>Instead of manually clicking </a:t>
            </a:r>
            <a:r>
              <a:rPr lang="en-US" sz="1400" b="1" dirty="0">
                <a:latin typeface="+mn-lt"/>
              </a:rPr>
              <a:t>Refresh</a:t>
            </a:r>
            <a:r>
              <a:rPr lang="en-US" sz="1400" dirty="0">
                <a:latin typeface="+mn-lt"/>
              </a:rPr>
              <a:t>, an application can trigger a refresh.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1593AC-9E89-20BF-9EF6-3D6C35EC8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40" y="1439052"/>
            <a:ext cx="1720938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44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dirty="0"/>
              <a:t>Power BI REST API Use Cases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D1946-9426-4E83-4A01-37D26D39097B}"/>
              </a:ext>
            </a:extLst>
          </p:cNvPr>
          <p:cNvSpPr txBox="1"/>
          <p:nvPr/>
        </p:nvSpPr>
        <p:spPr>
          <a:xfrm>
            <a:off x="457200" y="715660"/>
            <a:ext cx="769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n-lt"/>
              </a:rPr>
              <a:t>Workspace Management</a:t>
            </a:r>
          </a:p>
          <a:p>
            <a:r>
              <a:rPr lang="en-US" sz="1400" dirty="0">
                <a:latin typeface="+mn-lt"/>
              </a:rPr>
              <a:t>Organizations can automate workspace-related operations</a:t>
            </a:r>
            <a:r>
              <a:rPr lang="en-US" sz="1400" b="1" dirty="0">
                <a:latin typeface="+mn-lt"/>
              </a:rPr>
              <a:t>.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1CA37D-DFD4-A9C8-FC34-130BD7A4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1" y="1504950"/>
            <a:ext cx="1562180" cy="1416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92A02-F765-A887-4022-6437FD9A7FB9}"/>
              </a:ext>
            </a:extLst>
          </p:cNvPr>
          <p:cNvSpPr txBox="1"/>
          <p:nvPr/>
        </p:nvSpPr>
        <p:spPr>
          <a:xfrm>
            <a:off x="304800" y="3187143"/>
            <a:ext cx="7391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+mn-lt"/>
              </a:rPr>
              <a:t>Report Management</a:t>
            </a:r>
          </a:p>
          <a:p>
            <a:r>
              <a:rPr lang="en-IN" sz="1400" dirty="0">
                <a:latin typeface="+mn-lt"/>
              </a:rPr>
              <a:t>Applications can retrieve information about: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n-lt"/>
              </a:rPr>
              <a:t>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n-lt"/>
              </a:rPr>
              <a:t>Semantic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n-lt"/>
              </a:rPr>
              <a:t>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n-lt"/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1354592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8935"/>
          </a:xfrm>
        </p:spPr>
        <p:txBody>
          <a:bodyPr/>
          <a:lstStyle/>
          <a:p>
            <a:r>
              <a:rPr lang="en-US" dirty="0"/>
              <a:t>Power BI REST API Use Cases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9FA7-51D2-A030-A4E8-979397E5EE72}"/>
              </a:ext>
            </a:extLst>
          </p:cNvPr>
          <p:cNvSpPr txBox="1"/>
          <p:nvPr/>
        </p:nvSpPr>
        <p:spPr>
          <a:xfrm>
            <a:off x="512900" y="895350"/>
            <a:ext cx="847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D1946-9426-4E83-4A01-37D26D39097B}"/>
              </a:ext>
            </a:extLst>
          </p:cNvPr>
          <p:cNvSpPr txBox="1"/>
          <p:nvPr/>
        </p:nvSpPr>
        <p:spPr>
          <a:xfrm>
            <a:off x="301935" y="787628"/>
            <a:ext cx="7696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Deployment Automation</a:t>
            </a:r>
          </a:p>
          <a:p>
            <a:r>
              <a:rPr lang="en-US" sz="1400" dirty="0"/>
              <a:t>REST APIs can be used as part of CI/CD processes.</a:t>
            </a:r>
          </a:p>
          <a:p>
            <a:endParaRPr lang="en-US" sz="1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1F93F-E760-38A3-8477-0D348ADD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51585"/>
            <a:ext cx="1797142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3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1449</Words>
  <Application>Microsoft Office PowerPoint</Application>
  <PresentationFormat>On-screen Show (16:9)</PresentationFormat>
  <Paragraphs>337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What is Microsoft Fabric</vt:lpstr>
      <vt:lpstr>Traditional approach   Fabric approch</vt:lpstr>
      <vt:lpstr>Why Microsoft Fabric?</vt:lpstr>
      <vt:lpstr>Key benefits</vt:lpstr>
      <vt:lpstr>What is OneLake?</vt:lpstr>
      <vt:lpstr>What is a Lakehouse?</vt:lpstr>
      <vt:lpstr>Lakehouse contains</vt:lpstr>
      <vt:lpstr>Lakehouse contains</vt:lpstr>
      <vt:lpstr>What is a Workspace?</vt:lpstr>
      <vt:lpstr>For example:</vt:lpstr>
      <vt:lpstr>What is SQL Analytics Endpoint?</vt:lpstr>
      <vt:lpstr>What is a Warehouse?</vt:lpstr>
      <vt:lpstr>Lakehouse vs Warehouse</vt:lpstr>
      <vt:lpstr>What is a Workload?</vt:lpstr>
      <vt:lpstr>Types of Fabric Workloads</vt:lpstr>
      <vt:lpstr>Types of Fabric Workloads</vt:lpstr>
      <vt:lpstr>Types of Fabric Workloads</vt:lpstr>
      <vt:lpstr>What is Data Factory in Fabric?</vt:lpstr>
      <vt:lpstr>What is Data Factory in Fabric?</vt:lpstr>
      <vt:lpstr>What is a Pipeline?</vt:lpstr>
      <vt:lpstr>What is Copy Data Activity?</vt:lpstr>
      <vt:lpstr>Eventstream</vt:lpstr>
      <vt:lpstr>Eventstream</vt:lpstr>
      <vt:lpstr>Eventstream</vt:lpstr>
      <vt:lpstr>What is Dataflow Gen2?</vt:lpstr>
      <vt:lpstr>Dataflow Gen2 vs Copy Data</vt:lpstr>
      <vt:lpstr>A Deployment Pipeline</vt:lpstr>
      <vt:lpstr>A Deployment Pipeline</vt:lpstr>
      <vt:lpstr>A Deployment Pipeline</vt:lpstr>
      <vt:lpstr>A Deployment Pipeline</vt:lpstr>
      <vt:lpstr>Power BI REST API</vt:lpstr>
      <vt:lpstr>Power BI REST API</vt:lpstr>
      <vt:lpstr>How REST API works</vt:lpstr>
      <vt:lpstr>REST API methods</vt:lpstr>
      <vt:lpstr>Example: Get Reports</vt:lpstr>
      <vt:lpstr>Power BI REST API Use Cases</vt:lpstr>
      <vt:lpstr>Power BI REST API Use Cases</vt:lpstr>
      <vt:lpstr>Power BI REST API Use Cases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babjee reddy</cp:lastModifiedBy>
  <cp:revision>72</cp:revision>
  <dcterms:created xsi:type="dcterms:W3CDTF">2025-06-18T10:57:00Z</dcterms:created>
  <dcterms:modified xsi:type="dcterms:W3CDTF">2026-10-01T01:07:46Z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2025-06-18T16:30:00Z</vt:filetime>
  </property>
  <property fmtid="{D5CDD505-2E9C-101B-9397-08002B2CF9AE}" pid="3" name="Creator">
    <vt:lpwstr>Google</vt:lpwstr>
  </property>
  <property fmtid="{D5CDD505-2E9C-101B-9397-08002B2CF9AE}" pid="4" name="LastSaved">
    <vt:filetime>2025-06-18T16:30:00Z</vt:filetime>
  </property>
  <property fmtid="{D5CDD505-2E9C-101B-9397-08002B2CF9AE}" pid="5" name="ICV">
    <vt:lpwstr>536F947E8E10461A90F92E40F0110660_13</vt:lpwstr>
  </property>
  <property fmtid="{D5CDD505-2E9C-101B-9397-08002B2CF9AE}" pid="6" name="KSOProductBuildVer">
    <vt:lpwstr>2057-12.2.0.23206</vt:lpwstr>
  </property>
</Properties>
</file>