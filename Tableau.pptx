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98DED4-A1D0-4C78-AB81-08BA97B4AC8B}" type="datetimeFigureOut">
              <a:rPr lang="en-IN" smtClean="0"/>
              <a:t>23-10-2026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7923DF-4318-437E-85FF-5B777A9E83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9146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42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406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921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8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622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2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3862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66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8395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1292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1710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59411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Tableau is not just a chart-building tool.</a:t>
            </a:r>
          </a:p>
          <a:p>
            <a:r>
              <a:rPr lang="en-US" dirty="0"/>
              <a:t>It provides an end-to-end analytics workflow:</a:t>
            </a:r>
          </a:p>
          <a:p>
            <a:r>
              <a:rPr lang="en-US" b="1" dirty="0"/>
              <a:t>Connect → Prepare → Analyze → Visualize → Dashboard → Share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72821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4167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6236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5478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9605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803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19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678657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3338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5553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2249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39981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8432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7091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3110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4897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4557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8989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44760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01146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584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12832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22885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9696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88389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578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5600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2354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0758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1045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564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445810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66437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8949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98705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734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9301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56391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167999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37470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19364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06696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03205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69661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111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0012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Physical join, a relationship does not simply merge the tables into one fixed row-level table. Tableau can use the relationship when generating queries based on the fields used in a visualization.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7923DF-4318-437E-85FF-5B777A9E831C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3722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F801-8818-9B52-6231-96A8687B3C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Tableau</a:t>
            </a:r>
          </a:p>
        </p:txBody>
      </p:sp>
    </p:spTree>
    <p:extLst>
      <p:ext uri="{BB962C8B-B14F-4D97-AF65-F5344CB8AC3E}">
        <p14:creationId xmlns:p14="http://schemas.microsoft.com/office/powerpoint/2010/main" val="1147556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What is Tableau?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Tableau is a Business Intelligence and Data Visualization platform used to:</a:t>
            </a:r>
          </a:p>
          <a:p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Connect to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 err="1"/>
              <a:t>Analyze</a:t>
            </a:r>
            <a:r>
              <a:rPr lang="en-IN" dirty="0"/>
              <a:t>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Create interactive visualizations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Build dashboards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Discover business insights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Share reports and analytics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Simple Definition</a:t>
            </a:r>
          </a:p>
          <a:p>
            <a:endParaRPr lang="en-IN" dirty="0"/>
          </a:p>
          <a:p>
            <a:r>
              <a:rPr lang="en-IN" dirty="0"/>
              <a:t>Tableau converts raw data into interactive visualizations that help people understand data and make business decisions</a:t>
            </a:r>
          </a:p>
        </p:txBody>
      </p:sp>
    </p:spTree>
    <p:extLst>
      <p:ext uri="{BB962C8B-B14F-4D97-AF65-F5344CB8AC3E}">
        <p14:creationId xmlns:p14="http://schemas.microsoft.com/office/powerpoint/2010/main" val="2569752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Tableau Analytics Workflow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6E6E91-B1DA-F1DC-44E0-4FE7E420E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7" y="1406421"/>
            <a:ext cx="4553712" cy="404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651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Tableau </a:t>
            </a:r>
            <a:r>
              <a:rPr lang="fr-FR" b="1" dirty="0" err="1"/>
              <a:t>Products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Tableau Desktop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Tableau Public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Tableau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dirty="0"/>
              <a:t>Tableau 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  <a:p>
            <a:r>
              <a:rPr lang="en-US" b="1" dirty="0"/>
              <a:t>Tableau Desktop?</a:t>
            </a:r>
          </a:p>
          <a:p>
            <a:endParaRPr lang="en-US" dirty="0"/>
          </a:p>
          <a:p>
            <a:r>
              <a:rPr lang="en-US" dirty="0"/>
              <a:t>Tableau Desktop is the primary authoring application used 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Connect to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Prepare data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Build worksheets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Create calculations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Create dashboards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Create stories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Publish content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0598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Tableau </a:t>
            </a:r>
            <a:r>
              <a:rPr lang="fr-FR" b="1" dirty="0" err="1"/>
              <a:t>Products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Tableau Public</a:t>
            </a:r>
          </a:p>
          <a:p>
            <a:r>
              <a:rPr lang="en-US" dirty="0"/>
              <a:t>Tableau Public is a platform for creating and publicly sharing Tableau visualizations.</a:t>
            </a:r>
          </a:p>
          <a:p>
            <a:endParaRPr lang="en-US" b="1" dirty="0"/>
          </a:p>
          <a:p>
            <a:r>
              <a:rPr lang="en-US" b="1" dirty="0"/>
              <a:t>Suitable For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Learning Tableau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Practice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Portfolio development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Public dashboards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Data visualization community</a:t>
            </a:r>
          </a:p>
          <a:p>
            <a:endParaRPr lang="en-US" b="1" dirty="0"/>
          </a:p>
          <a:p>
            <a:r>
              <a:rPr lang="en-US" b="1" dirty="0"/>
              <a:t>Important Point</a:t>
            </a:r>
          </a:p>
          <a:p>
            <a:pPr lvl="1"/>
            <a:r>
              <a:rPr lang="en-US" dirty="0"/>
              <a:t>Public content is intended for public access.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3164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Tableau </a:t>
            </a:r>
            <a:r>
              <a:rPr lang="fr-FR" b="1" dirty="0" err="1"/>
              <a:t>Products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Tableau Cloud?</a:t>
            </a:r>
          </a:p>
          <a:p>
            <a:r>
              <a:rPr lang="en-US" dirty="0"/>
              <a:t>Tableau Cloud is Tableau's hosted/cloud-based analytics platform.</a:t>
            </a:r>
          </a:p>
          <a:p>
            <a:endParaRPr lang="en-US" dirty="0"/>
          </a:p>
          <a:p>
            <a:r>
              <a:rPr lang="en-US" dirty="0"/>
              <a:t>It can be used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Publish workbooks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Share dashboards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Manage users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Create projects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Schedule data refreshes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Collaborate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Access dashboards through browsers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09505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Tableau </a:t>
            </a:r>
            <a:r>
              <a:rPr lang="fr-FR" b="1" dirty="0" err="1"/>
              <a:t>Products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Tableau Server is a Tableau analytics platform that organizations can deploy and manage in their own environment.</a:t>
            </a:r>
          </a:p>
          <a:p>
            <a:endParaRPr lang="en-US" b="1" dirty="0"/>
          </a:p>
          <a:p>
            <a:r>
              <a:rPr lang="en-US" b="1" dirty="0"/>
              <a:t>Typical Enterprise Scenario</a:t>
            </a:r>
          </a:p>
          <a:p>
            <a:endParaRPr lang="en-US" b="1" dirty="0"/>
          </a:p>
          <a:p>
            <a:pPr lvl="1"/>
            <a:r>
              <a:rPr lang="en-US" b="1" dirty="0"/>
              <a:t>Company Data</a:t>
            </a:r>
          </a:p>
          <a:p>
            <a:pPr lvl="1"/>
            <a:r>
              <a:rPr lang="en-US" b="1" dirty="0"/>
              <a:t>     ↓</a:t>
            </a:r>
          </a:p>
          <a:p>
            <a:pPr lvl="1"/>
            <a:r>
              <a:rPr lang="en-US" b="1" dirty="0"/>
              <a:t>Tableau Desktop</a:t>
            </a:r>
          </a:p>
          <a:p>
            <a:pPr lvl="1"/>
            <a:r>
              <a:rPr lang="en-US" b="1" dirty="0"/>
              <a:t>     ↓</a:t>
            </a:r>
          </a:p>
          <a:p>
            <a:pPr lvl="1"/>
            <a:r>
              <a:rPr lang="en-US" b="1" dirty="0"/>
              <a:t>Tableau Server</a:t>
            </a:r>
          </a:p>
          <a:p>
            <a:pPr lvl="1"/>
            <a:r>
              <a:rPr lang="en-US" b="1" dirty="0"/>
              <a:t>     ↓</a:t>
            </a:r>
          </a:p>
          <a:p>
            <a:pPr lvl="1"/>
            <a:r>
              <a:rPr lang="en-US" b="1" dirty="0"/>
              <a:t>Employees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8878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TABLEAU DESKTOP INTERFACE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Important Areas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Pane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Rows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Columns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Filters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Marks Card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Analytics Pane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Show 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Worksheet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Dashboard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Story</a:t>
            </a:r>
          </a:p>
        </p:txBody>
      </p:sp>
    </p:spTree>
    <p:extLst>
      <p:ext uri="{BB962C8B-B14F-4D97-AF65-F5344CB8AC3E}">
        <p14:creationId xmlns:p14="http://schemas.microsoft.com/office/powerpoint/2010/main" val="2313703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TABLEAU DESKTOP INTERFACE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Pane</a:t>
            </a:r>
          </a:p>
          <a:p>
            <a:r>
              <a:rPr lang="en-US" dirty="0"/>
              <a:t>	The Data Pane contains the fields available from the connected data source.</a:t>
            </a:r>
          </a:p>
          <a:p>
            <a:endParaRPr lang="en-US" dirty="0"/>
          </a:p>
          <a:p>
            <a:r>
              <a:rPr lang="en-US" b="1" dirty="0"/>
              <a:t>Dimensions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Sub-Category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Product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State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Segment</a:t>
            </a:r>
          </a:p>
          <a:p>
            <a:r>
              <a:rPr lang="en-US" b="1" dirty="0"/>
              <a:t>Measures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Profit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Quantity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Discount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24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Discrete vs Continuous</a:t>
            </a:r>
            <a:endParaRPr lang="fr-FR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1000665"/>
            <a:ext cx="864151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Discrete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Creates headers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Usually shown as blue pills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Produces individual categories</a:t>
            </a:r>
          </a:p>
          <a:p>
            <a:endParaRPr lang="en-US" b="1" dirty="0"/>
          </a:p>
          <a:p>
            <a:r>
              <a:rPr lang="en-US" b="1" dirty="0"/>
              <a:t>Example:</a:t>
            </a:r>
          </a:p>
          <a:p>
            <a:endParaRPr lang="en-US" b="1" dirty="0"/>
          </a:p>
          <a:p>
            <a:r>
              <a:rPr lang="en-US" b="1" dirty="0"/>
              <a:t>Category</a:t>
            </a:r>
          </a:p>
          <a:p>
            <a:pPr lvl="1"/>
            <a:r>
              <a:rPr lang="en-US" b="1" dirty="0"/>
              <a:t>Technology</a:t>
            </a:r>
          </a:p>
          <a:p>
            <a:pPr lvl="1"/>
            <a:r>
              <a:rPr lang="en-US" b="1" dirty="0"/>
              <a:t>Furniture</a:t>
            </a:r>
          </a:p>
          <a:p>
            <a:pPr lvl="1"/>
            <a:r>
              <a:rPr lang="en-US" b="1" dirty="0"/>
              <a:t>Office Supplies</a:t>
            </a:r>
          </a:p>
          <a:p>
            <a:r>
              <a:rPr lang="en-US" b="1" dirty="0"/>
              <a:t>Continuous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Creates an axis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Usually shown as green pills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Represents a continuous range</a:t>
            </a:r>
          </a:p>
          <a:p>
            <a:endParaRPr lang="en-US" b="1" dirty="0"/>
          </a:p>
          <a:p>
            <a:r>
              <a:rPr lang="en-US" b="1" dirty="0"/>
              <a:t>Example:</a:t>
            </a:r>
          </a:p>
          <a:p>
            <a:endParaRPr lang="en-US" b="1" dirty="0"/>
          </a:p>
          <a:p>
            <a:r>
              <a:rPr lang="en-US" b="1" dirty="0"/>
              <a:t>Sales</a:t>
            </a:r>
          </a:p>
          <a:p>
            <a:r>
              <a:rPr lang="en-US" b="1" dirty="0"/>
              <a:t>0 ─────────────── 800K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488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7AFB185-4D04-D9D4-00AF-EE336B263088}"/>
              </a:ext>
            </a:extLst>
          </p:cNvPr>
          <p:cNvSpPr txBox="1"/>
          <p:nvPr/>
        </p:nvSpPr>
        <p:spPr>
          <a:xfrm>
            <a:off x="500332" y="335845"/>
            <a:ext cx="10481612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Rows Shelf</a:t>
            </a:r>
          </a:p>
          <a:p>
            <a:r>
              <a:rPr lang="en-US" dirty="0"/>
              <a:t>	The Rows Shelf determines what appears vertically in the visualization.</a:t>
            </a:r>
          </a:p>
          <a:p>
            <a:endParaRPr lang="en-US" b="1" dirty="0"/>
          </a:p>
          <a:p>
            <a:r>
              <a:rPr lang="en-US" b="1" dirty="0"/>
              <a:t>Columns Shelf</a:t>
            </a:r>
          </a:p>
          <a:p>
            <a:r>
              <a:rPr lang="en-US" dirty="0"/>
              <a:t>	The Columns Shelf determines what appears horizontally.</a:t>
            </a:r>
          </a:p>
          <a:p>
            <a:endParaRPr lang="en-US" dirty="0"/>
          </a:p>
          <a:p>
            <a:r>
              <a:rPr lang="en-US" b="1" dirty="0"/>
              <a:t>Marks Card</a:t>
            </a:r>
          </a:p>
          <a:p>
            <a:r>
              <a:rPr lang="en-US" dirty="0"/>
              <a:t>	The Marks Card controls how data is visually represented.</a:t>
            </a:r>
          </a:p>
          <a:p>
            <a:r>
              <a:rPr lang="en-US" dirty="0"/>
              <a:t>Color</a:t>
            </a:r>
          </a:p>
          <a:p>
            <a:r>
              <a:rPr lang="en-US" dirty="0"/>
              <a:t>	Color adds another analytical dimension to the visualization.</a:t>
            </a:r>
          </a:p>
          <a:p>
            <a:r>
              <a:rPr lang="en-US" b="1" dirty="0"/>
              <a:t>Size</a:t>
            </a:r>
          </a:p>
          <a:p>
            <a:r>
              <a:rPr lang="en-US" dirty="0"/>
              <a:t>	Size represents the relative magnitude of a measure.</a:t>
            </a:r>
          </a:p>
          <a:p>
            <a:endParaRPr lang="en-US" dirty="0"/>
          </a:p>
          <a:p>
            <a:r>
              <a:rPr lang="en-US" b="1" dirty="0"/>
              <a:t>Shape</a:t>
            </a:r>
          </a:p>
          <a:p>
            <a:r>
              <a:rPr lang="en-US" dirty="0"/>
              <a:t>	Shape distinguishes categories visually.</a:t>
            </a:r>
          </a:p>
          <a:p>
            <a:endParaRPr lang="en-US" dirty="0"/>
          </a:p>
          <a:p>
            <a:r>
              <a:rPr lang="en-US" b="1" dirty="0"/>
              <a:t>Detail</a:t>
            </a:r>
          </a:p>
          <a:p>
            <a:r>
              <a:rPr lang="en-US" dirty="0"/>
              <a:t>Detail adds a field to the level of detail of the visualization without necessarily changing the visible encoding.</a:t>
            </a:r>
          </a:p>
          <a:p>
            <a:endParaRPr lang="en-US" dirty="0"/>
          </a:p>
          <a:p>
            <a:r>
              <a:rPr lang="en-US" b="1" dirty="0"/>
              <a:t>Text</a:t>
            </a:r>
          </a:p>
          <a:p>
            <a:r>
              <a:rPr lang="en-US" dirty="0"/>
              <a:t>	Text displays values directly on the visualization.</a:t>
            </a:r>
          </a:p>
          <a:p>
            <a:r>
              <a:rPr lang="en-US" b="1" dirty="0"/>
              <a:t>Tooltip</a:t>
            </a:r>
          </a:p>
          <a:p>
            <a:r>
              <a:rPr lang="en-US" dirty="0"/>
              <a:t>Tooltip appears when the user moves the mouse over a mark.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912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Connection Types</a:t>
            </a:r>
          </a:p>
          <a:p>
            <a:endParaRPr lang="fr-F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A4112-8743-FD93-BD50-A5BE73DD8F0E}"/>
              </a:ext>
            </a:extLst>
          </p:cNvPr>
          <p:cNvSpPr txBox="1"/>
          <p:nvPr/>
        </p:nvSpPr>
        <p:spPr>
          <a:xfrm>
            <a:off x="374904" y="923544"/>
            <a:ext cx="87668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Live Connection</a:t>
            </a:r>
          </a:p>
          <a:p>
            <a:endParaRPr lang="en-IN" dirty="0"/>
          </a:p>
          <a:p>
            <a:r>
              <a:rPr lang="en-IN" dirty="0"/>
              <a:t>Tableau queries the underlying database when analysis is performed.</a:t>
            </a:r>
          </a:p>
          <a:p>
            <a:endParaRPr lang="en-IN" dirty="0"/>
          </a:p>
          <a:p>
            <a:pPr lvl="1"/>
            <a:r>
              <a:rPr lang="en-IN" dirty="0"/>
              <a:t>Tableau</a:t>
            </a:r>
          </a:p>
          <a:p>
            <a:pPr lvl="1"/>
            <a:r>
              <a:rPr lang="en-IN" dirty="0"/>
              <a:t>   ↓</a:t>
            </a:r>
          </a:p>
          <a:p>
            <a:pPr lvl="1"/>
            <a:r>
              <a:rPr lang="en-IN" dirty="0"/>
              <a:t>Database</a:t>
            </a:r>
          </a:p>
          <a:p>
            <a:pPr lvl="1"/>
            <a:r>
              <a:rPr lang="en-IN" dirty="0"/>
              <a:t>   ↓</a:t>
            </a:r>
          </a:p>
          <a:p>
            <a:pPr lvl="1"/>
            <a:r>
              <a:rPr lang="en-IN" dirty="0"/>
              <a:t>Query</a:t>
            </a:r>
          </a:p>
          <a:p>
            <a:pPr lvl="1"/>
            <a:r>
              <a:rPr lang="en-IN" dirty="0"/>
              <a:t>   ↓</a:t>
            </a:r>
          </a:p>
          <a:p>
            <a:pPr lvl="1"/>
            <a:r>
              <a:rPr lang="en-IN" dirty="0"/>
              <a:t>Result</a:t>
            </a:r>
          </a:p>
          <a:p>
            <a:pPr lvl="1"/>
            <a:r>
              <a:rPr lang="en-IN" dirty="0"/>
              <a:t>   ↓</a:t>
            </a:r>
          </a:p>
          <a:p>
            <a:pPr lvl="1"/>
            <a:r>
              <a:rPr lang="en-IN" dirty="0"/>
              <a:t>Visualization</a:t>
            </a:r>
          </a:p>
          <a:p>
            <a:endParaRPr lang="en-IN" dirty="0"/>
          </a:p>
          <a:p>
            <a:r>
              <a:rPr lang="en-IN" dirty="0"/>
              <a:t>Advantages</a:t>
            </a:r>
          </a:p>
          <a:p>
            <a:pPr lvl="1"/>
            <a:r>
              <a:rPr lang="en-IN" dirty="0"/>
              <a:t>Data can remain current</a:t>
            </a:r>
          </a:p>
          <a:p>
            <a:pPr lvl="1"/>
            <a:r>
              <a:rPr lang="en-IN" dirty="0"/>
              <a:t>Useful for large databases</a:t>
            </a:r>
          </a:p>
          <a:p>
            <a:pPr lvl="1"/>
            <a:r>
              <a:rPr lang="en-IN" dirty="0"/>
              <a:t>Centralized database remains the source</a:t>
            </a:r>
          </a:p>
        </p:txBody>
      </p:sp>
    </p:spTree>
    <p:extLst>
      <p:ext uri="{BB962C8B-B14F-4D97-AF65-F5344CB8AC3E}">
        <p14:creationId xmlns:p14="http://schemas.microsoft.com/office/powerpoint/2010/main" val="2801839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Connection Types</a:t>
            </a:r>
          </a:p>
          <a:p>
            <a:endParaRPr lang="fr-FR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2A4112-8743-FD93-BD50-A5BE73DD8F0E}"/>
              </a:ext>
            </a:extLst>
          </p:cNvPr>
          <p:cNvSpPr txBox="1"/>
          <p:nvPr/>
        </p:nvSpPr>
        <p:spPr>
          <a:xfrm>
            <a:off x="374904" y="923544"/>
            <a:ext cx="87668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Extract</a:t>
            </a:r>
          </a:p>
          <a:p>
            <a:endParaRPr lang="en-IN" dirty="0"/>
          </a:p>
          <a:p>
            <a:r>
              <a:rPr lang="en-IN" dirty="0"/>
              <a:t>An extract is a Tableau-optimized snapshot of data, commonly stored in Tableau's .hyper format.</a:t>
            </a:r>
          </a:p>
          <a:p>
            <a:endParaRPr lang="en-IN" dirty="0"/>
          </a:p>
          <a:p>
            <a:pPr lvl="1"/>
            <a:r>
              <a:rPr lang="en-IN" dirty="0"/>
              <a:t>Database / Excel</a:t>
            </a:r>
          </a:p>
          <a:p>
            <a:pPr lvl="1"/>
            <a:r>
              <a:rPr lang="en-IN" dirty="0"/>
              <a:t>      ↓</a:t>
            </a:r>
          </a:p>
          <a:p>
            <a:pPr lvl="1"/>
            <a:r>
              <a:rPr lang="en-IN" dirty="0"/>
              <a:t>    Extract</a:t>
            </a:r>
          </a:p>
          <a:p>
            <a:pPr lvl="1"/>
            <a:r>
              <a:rPr lang="en-IN" dirty="0"/>
              <a:t>      ↓</a:t>
            </a:r>
          </a:p>
          <a:p>
            <a:pPr lvl="1"/>
            <a:r>
              <a:rPr lang="en-IN" dirty="0"/>
              <a:t> Tableau</a:t>
            </a:r>
          </a:p>
          <a:p>
            <a:pPr lvl="1"/>
            <a:r>
              <a:rPr lang="en-IN" dirty="0"/>
              <a:t>      ↓</a:t>
            </a:r>
          </a:p>
          <a:p>
            <a:pPr lvl="1"/>
            <a:r>
              <a:rPr lang="en-IN" dirty="0"/>
              <a:t> Analysis</a:t>
            </a:r>
          </a:p>
          <a:p>
            <a:endParaRPr lang="en-IN" dirty="0"/>
          </a:p>
          <a:p>
            <a:r>
              <a:rPr lang="en-IN" dirty="0"/>
              <a:t>Advantages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Fast analytical performance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Can work with data independently of the original source for many workflows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Useful for reducing repeated database queries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Supports extract refreshes</a:t>
            </a:r>
          </a:p>
        </p:txBody>
      </p:sp>
    </p:spTree>
    <p:extLst>
      <p:ext uri="{BB962C8B-B14F-4D97-AF65-F5344CB8AC3E}">
        <p14:creationId xmlns:p14="http://schemas.microsoft.com/office/powerpoint/2010/main" val="608621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Data Modeling?</a:t>
            </a:r>
          </a:p>
          <a:p>
            <a:endParaRPr lang="fr-F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16E7717-1FAC-425A-4EF7-1B4933DBDE7C}"/>
              </a:ext>
            </a:extLst>
          </p:cNvPr>
          <p:cNvSpPr txBox="1"/>
          <p:nvPr/>
        </p:nvSpPr>
        <p:spPr>
          <a:xfrm>
            <a:off x="118872" y="1416642"/>
            <a:ext cx="895883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Approach			Purpose</a:t>
            </a:r>
          </a:p>
          <a:p>
            <a:r>
              <a:rPr lang="en-US" dirty="0"/>
              <a:t>Relationships		Relate logical tables while preserving their individual structure</a:t>
            </a:r>
          </a:p>
          <a:p>
            <a:r>
              <a:rPr lang="en-US" dirty="0"/>
              <a:t>Joins	Combine 		tables horizontally using matching fields</a:t>
            </a:r>
          </a:p>
          <a:p>
            <a:r>
              <a:rPr lang="en-US" dirty="0"/>
              <a:t>Unions			Combine tables vertically by stacking rows</a:t>
            </a:r>
          </a:p>
          <a:p>
            <a:r>
              <a:rPr lang="en-US" dirty="0"/>
              <a:t>Data blending		Combine aggregated results from separate data sources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79654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What Is a Relationship?</a:t>
            </a:r>
          </a:p>
          <a:p>
            <a:endParaRPr lang="fr-F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48CF1-E52F-7960-7F50-96E76E1880E0}"/>
              </a:ext>
            </a:extLst>
          </p:cNvPr>
          <p:cNvSpPr txBox="1"/>
          <p:nvPr/>
        </p:nvSpPr>
        <p:spPr>
          <a:xfrm>
            <a:off x="304081" y="1106424"/>
            <a:ext cx="883763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 relationship connects two logical tables using one or more matching fields.</a:t>
            </a:r>
          </a:p>
          <a:p>
            <a:endParaRPr lang="en-IN" dirty="0"/>
          </a:p>
          <a:p>
            <a:r>
              <a:rPr lang="en-IN" dirty="0"/>
              <a:t>Example:</a:t>
            </a:r>
          </a:p>
          <a:p>
            <a:endParaRPr lang="en-IN" dirty="0"/>
          </a:p>
          <a:p>
            <a:r>
              <a:rPr lang="en-IN" dirty="0"/>
              <a:t>Orders                  	Returns</a:t>
            </a:r>
          </a:p>
          <a:p>
            <a:r>
              <a:rPr lang="en-IN" dirty="0"/>
              <a:t>-------------           	-------------</a:t>
            </a:r>
          </a:p>
          <a:p>
            <a:r>
              <a:rPr lang="en-IN" dirty="0"/>
              <a:t>Order ID                	Order ID</a:t>
            </a:r>
          </a:p>
          <a:p>
            <a:r>
              <a:rPr lang="en-IN" dirty="0"/>
              <a:t>Customer ID             Returned</a:t>
            </a:r>
          </a:p>
          <a:p>
            <a:r>
              <a:rPr lang="en-IN" dirty="0"/>
              <a:t>Sales</a:t>
            </a:r>
          </a:p>
          <a:p>
            <a:r>
              <a:rPr lang="en-IN" dirty="0"/>
              <a:t>Profit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BC4341-366B-4137-FECD-AC55DBC1DBA3}"/>
              </a:ext>
            </a:extLst>
          </p:cNvPr>
          <p:cNvSpPr txBox="1"/>
          <p:nvPr/>
        </p:nvSpPr>
        <p:spPr>
          <a:xfrm>
            <a:off x="587502" y="4082980"/>
            <a:ext cx="60944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Relationship:</a:t>
            </a:r>
          </a:p>
          <a:p>
            <a:endParaRPr lang="en-IN" dirty="0"/>
          </a:p>
          <a:p>
            <a:r>
              <a:rPr lang="en-IN" dirty="0" err="1"/>
              <a:t>Orders.Order</a:t>
            </a:r>
            <a:r>
              <a:rPr lang="en-IN" dirty="0"/>
              <a:t> ID</a:t>
            </a:r>
          </a:p>
          <a:p>
            <a:r>
              <a:rPr lang="en-IN" dirty="0"/>
              <a:t>       ↕</a:t>
            </a:r>
          </a:p>
          <a:p>
            <a:r>
              <a:rPr lang="en-IN" dirty="0" err="1"/>
              <a:t>Returns.Order</a:t>
            </a:r>
            <a:r>
              <a:rPr lang="en-IN" dirty="0"/>
              <a:t> ID</a:t>
            </a:r>
          </a:p>
        </p:txBody>
      </p:sp>
    </p:spTree>
    <p:extLst>
      <p:ext uri="{BB962C8B-B14F-4D97-AF65-F5344CB8AC3E}">
        <p14:creationId xmlns:p14="http://schemas.microsoft.com/office/powerpoint/2010/main" val="90116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 Is a Join?</a:t>
            </a:r>
          </a:p>
          <a:p>
            <a:endParaRPr lang="fr-F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48CF1-E52F-7960-7F50-96E76E1880E0}"/>
              </a:ext>
            </a:extLst>
          </p:cNvPr>
          <p:cNvSpPr txBox="1"/>
          <p:nvPr/>
        </p:nvSpPr>
        <p:spPr>
          <a:xfrm>
            <a:off x="304081" y="1106424"/>
            <a:ext cx="8837633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join combines columns from two tables using a matching condition.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Orders</a:t>
            </a:r>
          </a:p>
          <a:p>
            <a:endParaRPr lang="en-US" dirty="0"/>
          </a:p>
          <a:p>
            <a:r>
              <a:rPr lang="en-US" dirty="0"/>
              <a:t>Order ID	Customer ID	Sales</a:t>
            </a:r>
          </a:p>
          <a:p>
            <a:r>
              <a:rPr lang="en-US" dirty="0"/>
              <a:t>O101	C01	500</a:t>
            </a:r>
          </a:p>
          <a:p>
            <a:r>
              <a:rPr lang="en-US" dirty="0"/>
              <a:t>O102	C02	300</a:t>
            </a:r>
          </a:p>
          <a:p>
            <a:r>
              <a:rPr lang="en-US" dirty="0"/>
              <a:t>O103	C03	400</a:t>
            </a:r>
          </a:p>
          <a:p>
            <a:endParaRPr lang="en-US" dirty="0"/>
          </a:p>
          <a:p>
            <a:r>
              <a:rPr lang="en-US" dirty="0"/>
              <a:t>Customers</a:t>
            </a:r>
          </a:p>
          <a:p>
            <a:endParaRPr lang="en-US" dirty="0"/>
          </a:p>
          <a:p>
            <a:r>
              <a:rPr lang="en-US" dirty="0"/>
              <a:t>Customer ID	Customer Name</a:t>
            </a:r>
          </a:p>
          <a:p>
            <a:r>
              <a:rPr lang="en-US" dirty="0"/>
              <a:t>C01		Ravi</a:t>
            </a:r>
          </a:p>
          <a:p>
            <a:r>
              <a:rPr lang="en-US" dirty="0"/>
              <a:t>C02		Priya</a:t>
            </a:r>
          </a:p>
          <a:p>
            <a:r>
              <a:rPr lang="en-US" dirty="0"/>
              <a:t>C04		Arun</a:t>
            </a:r>
          </a:p>
          <a:p>
            <a:endParaRPr lang="en-US" dirty="0"/>
          </a:p>
          <a:p>
            <a:r>
              <a:rPr lang="en-US" dirty="0"/>
              <a:t>Join key: Customer ID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0720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Unions</a:t>
            </a:r>
          </a:p>
          <a:p>
            <a:endParaRPr lang="fr-F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48CF1-E52F-7960-7F50-96E76E1880E0}"/>
              </a:ext>
            </a:extLst>
          </p:cNvPr>
          <p:cNvSpPr txBox="1"/>
          <p:nvPr/>
        </p:nvSpPr>
        <p:spPr>
          <a:xfrm>
            <a:off x="304081" y="1106424"/>
            <a:ext cx="883763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A union combines rows from two or more tables with compatible structures.</a:t>
            </a:r>
          </a:p>
          <a:p>
            <a:endParaRPr lang="en-US" dirty="0"/>
          </a:p>
          <a:p>
            <a:r>
              <a:rPr lang="en-US" dirty="0"/>
              <a:t>Sales_2025           Sales_2026</a:t>
            </a:r>
          </a:p>
          <a:p>
            <a:r>
              <a:rPr lang="en-US" dirty="0"/>
              <a:t>-----------          -----------</a:t>
            </a:r>
          </a:p>
          <a:p>
            <a:r>
              <a:rPr lang="en-US" dirty="0"/>
              <a:t>Order ID             Order ID</a:t>
            </a:r>
          </a:p>
          <a:p>
            <a:r>
              <a:rPr lang="en-US" dirty="0"/>
              <a:t>Sales                </a:t>
            </a:r>
            <a:r>
              <a:rPr lang="en-US" dirty="0" err="1"/>
              <a:t>Sales</a:t>
            </a:r>
            <a:endParaRPr lang="en-US" dirty="0"/>
          </a:p>
          <a:p>
            <a:r>
              <a:rPr lang="en-US" dirty="0"/>
              <a:t>Region               </a:t>
            </a:r>
            <a:r>
              <a:rPr lang="en-US" dirty="0" err="1"/>
              <a:t>Region</a:t>
            </a:r>
            <a:endParaRPr lang="en-US" dirty="0"/>
          </a:p>
          <a:p>
            <a:r>
              <a:rPr lang="en-US" dirty="0"/>
              <a:t>       \             /</a:t>
            </a:r>
          </a:p>
          <a:p>
            <a:r>
              <a:rPr lang="en-US" dirty="0"/>
              <a:t>        \           /</a:t>
            </a:r>
          </a:p>
          <a:p>
            <a:r>
              <a:rPr lang="en-US" dirty="0"/>
              <a:t>           UNION</a:t>
            </a:r>
          </a:p>
          <a:p>
            <a:r>
              <a:rPr lang="en-US" dirty="0"/>
              <a:t>             ↓</a:t>
            </a:r>
          </a:p>
          <a:p>
            <a:r>
              <a:rPr lang="en-US" dirty="0"/>
              <a:t>        Combined Sales</a:t>
            </a:r>
          </a:p>
          <a:p>
            <a:endParaRPr lang="en-US" dirty="0"/>
          </a:p>
          <a:p>
            <a:r>
              <a:rPr lang="en-US" dirty="0"/>
              <a:t>Key rule</a:t>
            </a:r>
          </a:p>
          <a:p>
            <a:endParaRPr lang="en-US" dirty="0"/>
          </a:p>
          <a:p>
            <a:r>
              <a:rPr lang="en-US" dirty="0"/>
              <a:t>Join = combine columns horizontally.</a:t>
            </a:r>
          </a:p>
          <a:p>
            <a:r>
              <a:rPr lang="en-US" dirty="0"/>
              <a:t>Union = stack rows vertically.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15938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Data Blending?</a:t>
            </a:r>
          </a:p>
          <a:p>
            <a:endParaRPr lang="fr-F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48CF1-E52F-7960-7F50-96E76E1880E0}"/>
              </a:ext>
            </a:extLst>
          </p:cNvPr>
          <p:cNvSpPr txBox="1"/>
          <p:nvPr/>
        </p:nvSpPr>
        <p:spPr>
          <a:xfrm>
            <a:off x="304081" y="1106424"/>
            <a:ext cx="1043097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Data blending combines aggregated results from separate data sources using common linking fields.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  <a:p>
            <a:r>
              <a:rPr lang="en-US" dirty="0"/>
              <a:t>Primary source: Sales database</a:t>
            </a:r>
          </a:p>
          <a:p>
            <a:r>
              <a:rPr lang="en-US" dirty="0"/>
              <a:t>Secondary source: Targets Excel file</a:t>
            </a:r>
          </a:p>
          <a:p>
            <a:r>
              <a:rPr lang="en-US" dirty="0"/>
              <a:t>Linking field: Region</a:t>
            </a:r>
          </a:p>
          <a:p>
            <a:r>
              <a:rPr lang="en-US" dirty="0"/>
              <a:t>Sales Source              Target Source</a:t>
            </a:r>
          </a:p>
          <a:p>
            <a:r>
              <a:rPr lang="en-US" dirty="0"/>
              <a:t>     │                          │</a:t>
            </a:r>
          </a:p>
          <a:p>
            <a:r>
              <a:rPr lang="en-US" dirty="0"/>
              <a:t>     └──────── Region ──────────┘</a:t>
            </a:r>
          </a:p>
          <a:p>
            <a:r>
              <a:rPr lang="en-US" dirty="0"/>
              <a:t>                  ↓</a:t>
            </a:r>
          </a:p>
          <a:p>
            <a:r>
              <a:rPr lang="en-US" dirty="0"/>
              <a:t>       Combined Analysis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Data blending is different from joining two tables inside the same physical data model.</a:t>
            </a:r>
          </a:p>
          <a:p>
            <a:endParaRPr lang="en-US" dirty="0"/>
          </a:p>
          <a:p>
            <a:r>
              <a:rPr lang="en-US" dirty="0"/>
              <a:t>It can be useful when data resides in separate sources that need to be analyzed together.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7005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Chart Selection</a:t>
            </a:r>
            <a:endParaRPr lang="fr-FR" b="1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8D85985A-6335-7E68-E267-19A76D3FA2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122317"/>
              </p:ext>
            </p:extLst>
          </p:nvPr>
        </p:nvGraphicFramePr>
        <p:xfrm>
          <a:off x="612648" y="1133856"/>
          <a:ext cx="7623302" cy="42100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41993">
                  <a:extLst>
                    <a:ext uri="{9D8B030D-6E8A-4147-A177-3AD203B41FA5}">
                      <a16:colId xmlns:a16="http://schemas.microsoft.com/office/drawing/2014/main" val="3066344"/>
                    </a:ext>
                  </a:extLst>
                </a:gridCol>
                <a:gridCol w="3981309">
                  <a:extLst>
                    <a:ext uri="{9D8B030D-6E8A-4147-A177-3AD203B41FA5}">
                      <a16:colId xmlns:a16="http://schemas.microsoft.com/office/drawing/2014/main" val="2566646150"/>
                    </a:ext>
                  </a:extLst>
                </a:gridCol>
              </a:tblGrid>
              <a:tr h="24508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Requirement</a:t>
                      </a:r>
                      <a:endParaRPr lang="en-IN" sz="1800" b="1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Chart</a:t>
                      </a:r>
                      <a:endParaRPr lang="en-IN" sz="1800" b="1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49222739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Compare categories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Bar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793351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Trend over time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Line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24580355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Composition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Stacked Bar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82966854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Part-to-whole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Pie / Treemap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1074659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Relationship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Scatter</a:t>
                      </a:r>
                      <a:endParaRPr lang="en-IN" sz="1800" b="0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5499701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Distribution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Histogram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55952912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Distribution + outliers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Box Plot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9952227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Geographic comparison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Map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60477091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Geographic concentration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Density Map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5599742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Actual vs Target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Bullet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4757254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Contribution analysis</a:t>
                      </a:r>
                      <a:endParaRPr lang="en-IN" sz="1800" b="0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Waterfall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5203109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Exact values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Text Table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25156469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Pattern across two dimensions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Heat Map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89364954"/>
                  </a:ext>
                </a:extLst>
              </a:tr>
              <a:tr h="2450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Two measures</a:t>
                      </a:r>
                      <a:endParaRPr lang="en-IN" sz="1800" b="0" i="0" u="none" strike="noStrike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ln>
                            <a:solidFill>
                              <a:sysClr val="windowText" lastClr="000000"/>
                            </a:solidFill>
                          </a:ln>
                          <a:effectLst/>
                        </a:rPr>
                        <a:t>Dual Axis</a:t>
                      </a:r>
                      <a:endParaRPr lang="en-IN" sz="1800" b="0" i="0" u="none" strike="noStrike" dirty="0">
                        <a:ln>
                          <a:solidFill>
                            <a:sysClr val="windowText" lastClr="000000"/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83779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622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Bar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Purpose</a:t>
            </a:r>
          </a:p>
          <a:p>
            <a:endParaRPr lang="en-IN" dirty="0"/>
          </a:p>
          <a:p>
            <a:r>
              <a:rPr lang="en-IN" dirty="0"/>
              <a:t>Compare values across categories.</a:t>
            </a:r>
          </a:p>
          <a:p>
            <a:endParaRPr lang="en-IN" dirty="0"/>
          </a:p>
          <a:p>
            <a:r>
              <a:rPr lang="en-IN" dirty="0"/>
              <a:t>Example</a:t>
            </a:r>
          </a:p>
          <a:p>
            <a:endParaRPr lang="en-IN" dirty="0"/>
          </a:p>
          <a:p>
            <a:r>
              <a:rPr lang="en-IN" dirty="0"/>
              <a:t>Sales by Category</a:t>
            </a:r>
          </a:p>
          <a:p>
            <a:endParaRPr lang="en-IN" dirty="0"/>
          </a:p>
          <a:p>
            <a:r>
              <a:rPr lang="en-IN" dirty="0"/>
              <a:t>Fields</a:t>
            </a:r>
          </a:p>
          <a:p>
            <a:r>
              <a:rPr lang="en-IN" dirty="0"/>
              <a:t>Rows → Category</a:t>
            </a:r>
          </a:p>
          <a:p>
            <a:r>
              <a:rPr lang="en-IN" dirty="0"/>
              <a:t>Columns → SUM(Sales)</a:t>
            </a:r>
          </a:p>
          <a:p>
            <a:endParaRPr lang="en-IN" dirty="0"/>
          </a:p>
          <a:p>
            <a:r>
              <a:rPr lang="en-IN" dirty="0"/>
              <a:t>Business Questions</a:t>
            </a:r>
          </a:p>
          <a:p>
            <a:pPr lvl="1"/>
            <a:r>
              <a:rPr lang="en-IN" dirty="0"/>
              <a:t>Which category has highest Sales?</a:t>
            </a:r>
          </a:p>
          <a:p>
            <a:pPr lvl="1"/>
            <a:r>
              <a:rPr lang="en-IN" dirty="0"/>
              <a:t>Which category has lowest Sales?</a:t>
            </a:r>
          </a:p>
          <a:p>
            <a:pPr lvl="1"/>
            <a:r>
              <a:rPr lang="en-IN" dirty="0"/>
              <a:t>Best Practice</a:t>
            </a:r>
          </a:p>
          <a:p>
            <a:endParaRPr lang="en-IN" dirty="0"/>
          </a:p>
          <a:p>
            <a:r>
              <a:rPr lang="en-IN" dirty="0"/>
              <a:t>Sort bars descending when ranking is important.</a:t>
            </a:r>
          </a:p>
        </p:txBody>
      </p:sp>
    </p:spTree>
    <p:extLst>
      <p:ext uri="{BB962C8B-B14F-4D97-AF65-F5344CB8AC3E}">
        <p14:creationId xmlns:p14="http://schemas.microsoft.com/office/powerpoint/2010/main" val="18466455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Horizontal Bar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Rows → Sub-Category</a:t>
            </a:r>
          </a:p>
          <a:p>
            <a:pPr lvl="1"/>
            <a:r>
              <a:rPr lang="en-US" dirty="0"/>
              <a:t>Columns → SUM(Sales)</a:t>
            </a:r>
          </a:p>
          <a:p>
            <a:endParaRPr lang="en-US" dirty="0"/>
          </a:p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Long category names</a:t>
            </a:r>
          </a:p>
          <a:p>
            <a:pPr lvl="1"/>
            <a:r>
              <a:rPr lang="en-US" dirty="0"/>
              <a:t>Ranking</a:t>
            </a:r>
          </a:p>
          <a:p>
            <a:pPr lvl="1"/>
            <a:r>
              <a:rPr lang="en-US" dirty="0"/>
              <a:t>Top/Bottom analysis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What are the top 10 sub-categories by sales?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4793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Vertical Bar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Columns → Category</a:t>
            </a:r>
          </a:p>
          <a:p>
            <a:pPr lvl="1"/>
            <a:r>
              <a:rPr lang="en-US" dirty="0"/>
              <a:t>Rows → SUM(Sales)</a:t>
            </a:r>
          </a:p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Small number of categories</a:t>
            </a:r>
          </a:p>
          <a:p>
            <a:pPr lvl="1"/>
            <a:r>
              <a:rPr lang="en-US" dirty="0"/>
              <a:t>Comparison</a:t>
            </a:r>
          </a:p>
          <a:p>
            <a:pPr lvl="1"/>
            <a:r>
              <a:rPr lang="en-US" dirty="0"/>
              <a:t>Compact dashboards</a:t>
            </a:r>
          </a:p>
          <a:p>
            <a:pPr lvl="1"/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Compare Sales across the three product </a:t>
            </a:r>
            <a:r>
              <a:rPr lang="en-US" dirty="0" err="1"/>
              <a:t>categorie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36282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Stacked Bar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composition within categories.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Region → Columns</a:t>
            </a:r>
          </a:p>
          <a:p>
            <a:pPr lvl="1"/>
            <a:r>
              <a:rPr lang="en-US" dirty="0"/>
              <a:t>Sales → Rows</a:t>
            </a:r>
          </a:p>
          <a:p>
            <a:pPr lvl="1"/>
            <a:r>
              <a:rPr lang="en-US" dirty="0"/>
              <a:t>Category → Color</a:t>
            </a:r>
          </a:p>
          <a:p>
            <a:pPr lvl="1"/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does each category contribute to sales within each region?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3011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Side-by-Side Bar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Compare multiple measures/categories side by side.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Category → Columns</a:t>
            </a:r>
          </a:p>
          <a:p>
            <a:pPr lvl="1"/>
            <a:r>
              <a:rPr lang="en-US" dirty="0"/>
              <a:t>Sales → Rows</a:t>
            </a:r>
          </a:p>
          <a:p>
            <a:pPr lvl="1"/>
            <a:r>
              <a:rPr lang="en-US" dirty="0"/>
              <a:t>Region → Columns</a:t>
            </a:r>
          </a:p>
          <a:p>
            <a:endParaRPr lang="en-US" dirty="0"/>
          </a:p>
          <a:p>
            <a:r>
              <a:rPr lang="en-US" dirty="0"/>
              <a:t>Or use a suitable dimension to create separate bars.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Compare regional Sales within each Category.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097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Line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trends over time.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Order Date → Columns</a:t>
            </a:r>
          </a:p>
          <a:p>
            <a:pPr lvl="1"/>
            <a:r>
              <a:rPr lang="en-US" dirty="0"/>
              <a:t>Sales → Rows</a:t>
            </a:r>
          </a:p>
          <a:p>
            <a:endParaRPr lang="en-US" dirty="0"/>
          </a:p>
          <a:p>
            <a:r>
              <a:rPr lang="en-US" dirty="0"/>
              <a:t>Change Order Date to:</a:t>
            </a:r>
          </a:p>
          <a:p>
            <a:endParaRPr lang="en-US" dirty="0"/>
          </a:p>
          <a:p>
            <a:r>
              <a:rPr lang="en-US" dirty="0"/>
              <a:t>Month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have monthly Sales changed over time?</a:t>
            </a:r>
          </a:p>
          <a:p>
            <a:endParaRPr lang="en-US" dirty="0"/>
          </a:p>
          <a:p>
            <a:r>
              <a:rPr lang="en-US" dirty="0"/>
              <a:t>Best For</a:t>
            </a:r>
          </a:p>
          <a:p>
            <a:pPr lvl="1"/>
            <a:r>
              <a:rPr lang="en-US" dirty="0"/>
              <a:t>Sales trend</a:t>
            </a:r>
          </a:p>
          <a:p>
            <a:pPr lvl="1"/>
            <a:r>
              <a:rPr lang="en-US" dirty="0"/>
              <a:t>Profit trend</a:t>
            </a:r>
          </a:p>
          <a:p>
            <a:pPr lvl="1"/>
            <a:r>
              <a:rPr lang="en-US" dirty="0"/>
              <a:t>Customer growth</a:t>
            </a:r>
          </a:p>
          <a:p>
            <a:pPr lvl="1"/>
            <a:r>
              <a:rPr lang="en-US" dirty="0"/>
              <a:t>Monthly performance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57752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Multiple-Line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96646" y="962995"/>
            <a:ext cx="690143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pPr lvl="1"/>
            <a:r>
              <a:rPr lang="en-US" dirty="0"/>
              <a:t>Order Date → Columns</a:t>
            </a:r>
          </a:p>
          <a:p>
            <a:pPr lvl="1"/>
            <a:r>
              <a:rPr lang="en-US" dirty="0"/>
              <a:t>Sales → Rows</a:t>
            </a:r>
          </a:p>
          <a:p>
            <a:pPr lvl="1"/>
            <a:r>
              <a:rPr lang="en-US" dirty="0"/>
              <a:t>Category → Color</a:t>
            </a:r>
          </a:p>
          <a:p>
            <a:r>
              <a:rPr lang="en-US" dirty="0"/>
              <a:t>Result</a:t>
            </a:r>
          </a:p>
          <a:p>
            <a:endParaRPr lang="en-US" dirty="0"/>
          </a:p>
          <a:p>
            <a:r>
              <a:rPr lang="en-US" dirty="0"/>
              <a:t>One line for each Category.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	Which category is growing fastest?</a:t>
            </a:r>
          </a:p>
          <a:p>
            <a:endParaRPr lang="en-US" dirty="0"/>
          </a:p>
          <a:p>
            <a:r>
              <a:rPr lang="en-US" dirty="0"/>
              <a:t>Caution</a:t>
            </a:r>
          </a:p>
          <a:p>
            <a:endParaRPr lang="en-US" dirty="0"/>
          </a:p>
          <a:p>
            <a:r>
              <a:rPr lang="en-US" dirty="0"/>
              <a:t>Too many lines make the visualization difficult to read.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93945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Area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trends while emphasizing volume.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Order Date → Columns</a:t>
            </a:r>
          </a:p>
          <a:p>
            <a:pPr lvl="1"/>
            <a:r>
              <a:rPr lang="en-US" dirty="0"/>
              <a:t>Sales → Rows</a:t>
            </a:r>
          </a:p>
          <a:p>
            <a:pPr lvl="1"/>
            <a:r>
              <a:rPr lang="en-US" dirty="0"/>
              <a:t>Category → Color</a:t>
            </a:r>
          </a:p>
          <a:p>
            <a:endParaRPr lang="en-US" dirty="0"/>
          </a:p>
          <a:p>
            <a:r>
              <a:rPr lang="en-US" dirty="0"/>
              <a:t>Change Marks type to:</a:t>
            </a:r>
          </a:p>
          <a:p>
            <a:endParaRPr lang="en-US" dirty="0"/>
          </a:p>
          <a:p>
            <a:r>
              <a:rPr lang="en-US" dirty="0"/>
              <a:t>Area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did each category contribute to total sales over time?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7573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Pie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part-to-whole relationships.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Category → Color</a:t>
            </a:r>
          </a:p>
          <a:p>
            <a:pPr lvl="1"/>
            <a:r>
              <a:rPr lang="en-US" dirty="0"/>
              <a:t>Sales → Angle</a:t>
            </a:r>
          </a:p>
          <a:p>
            <a:pPr lvl="1"/>
            <a:r>
              <a:rPr lang="en-US" dirty="0"/>
              <a:t>Sales → Label</a:t>
            </a:r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What percentage of total sales comes from each category?</a:t>
            </a:r>
          </a:p>
          <a:p>
            <a:endParaRPr lang="en-US" dirty="0"/>
          </a:p>
          <a:p>
            <a:r>
              <a:rPr lang="en-US" dirty="0"/>
              <a:t>Caution</a:t>
            </a:r>
          </a:p>
          <a:p>
            <a:endParaRPr lang="en-US" dirty="0"/>
          </a:p>
          <a:p>
            <a:r>
              <a:rPr lang="en-US" dirty="0"/>
              <a:t>Pie charts become difficult to read with many categories.</a:t>
            </a:r>
          </a:p>
          <a:p>
            <a:endParaRPr lang="en-US" dirty="0"/>
          </a:p>
          <a:p>
            <a:r>
              <a:rPr lang="en-US" dirty="0"/>
              <a:t>Use them for a small number of categories.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9095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Text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Display exact values in tabular form.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Rows:</a:t>
            </a:r>
          </a:p>
          <a:p>
            <a:pPr lvl="1"/>
            <a:r>
              <a:rPr lang="en-US" dirty="0"/>
              <a:t>	Region</a:t>
            </a:r>
          </a:p>
          <a:p>
            <a:endParaRPr lang="en-US" dirty="0"/>
          </a:p>
          <a:p>
            <a:pPr lvl="1"/>
            <a:r>
              <a:rPr lang="en-US" dirty="0"/>
              <a:t>Columns:</a:t>
            </a:r>
          </a:p>
          <a:p>
            <a:pPr lvl="1"/>
            <a:r>
              <a:rPr lang="en-US" dirty="0"/>
              <a:t>	Category</a:t>
            </a:r>
          </a:p>
          <a:p>
            <a:endParaRPr lang="en-US" dirty="0"/>
          </a:p>
          <a:p>
            <a:pPr lvl="1"/>
            <a:r>
              <a:rPr lang="en-US" dirty="0"/>
              <a:t>Text:</a:t>
            </a:r>
          </a:p>
          <a:p>
            <a:pPr lvl="1"/>
            <a:r>
              <a:rPr lang="en-US" dirty="0"/>
              <a:t>	SUM(Sales)</a:t>
            </a:r>
          </a:p>
          <a:p>
            <a:r>
              <a:rPr lang="en-US" dirty="0"/>
              <a:t>Business Use</a:t>
            </a:r>
          </a:p>
          <a:p>
            <a:endParaRPr lang="en-US" dirty="0"/>
          </a:p>
          <a:p>
            <a:r>
              <a:rPr lang="en-US" dirty="0"/>
              <a:t>Useful when users need exact values rather than visual comparisons.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10733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Highlight Table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Combine exact values with color intensity.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Rows → Region</a:t>
            </a:r>
          </a:p>
          <a:p>
            <a:pPr lvl="1"/>
            <a:r>
              <a:rPr lang="en-US" dirty="0"/>
              <a:t>Columns → Category</a:t>
            </a:r>
          </a:p>
          <a:p>
            <a:pPr lvl="1"/>
            <a:r>
              <a:rPr lang="en-US" dirty="0"/>
              <a:t>Text → Sales</a:t>
            </a:r>
          </a:p>
          <a:p>
            <a:pPr lvl="1"/>
            <a:r>
              <a:rPr lang="en-US" dirty="0"/>
              <a:t>Color → Sales</a:t>
            </a:r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Which region-category combinations have the highest Sale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3034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Heat 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Use color and size to show patterns across two dimensions.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Rows → Sub-Category</a:t>
            </a:r>
          </a:p>
          <a:p>
            <a:pPr lvl="1"/>
            <a:r>
              <a:rPr lang="en-US" dirty="0"/>
              <a:t>Columns → Region</a:t>
            </a:r>
          </a:p>
          <a:p>
            <a:pPr lvl="1"/>
            <a:r>
              <a:rPr lang="en-US" dirty="0"/>
              <a:t>Color → Profit</a:t>
            </a:r>
          </a:p>
          <a:p>
            <a:pPr lvl="1"/>
            <a:r>
              <a:rPr lang="en-US" dirty="0"/>
              <a:t>Size → Sales</a:t>
            </a:r>
          </a:p>
          <a:p>
            <a:endParaRPr lang="en-US" dirty="0"/>
          </a:p>
          <a:p>
            <a:r>
              <a:rPr lang="en-US" dirty="0"/>
              <a:t>Business Questions</a:t>
            </a:r>
          </a:p>
          <a:p>
            <a:pPr lvl="1"/>
            <a:r>
              <a:rPr lang="en-US" dirty="0"/>
              <a:t>Which combinations generate high Sales?</a:t>
            </a:r>
          </a:p>
          <a:p>
            <a:pPr lvl="1"/>
            <a:r>
              <a:rPr lang="en-US" dirty="0"/>
              <a:t>Which combinations have poor Profit?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2880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Dual-Axis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Compare two measures with different scales or show two related measures in one view.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Order Date → Columns</a:t>
            </a:r>
          </a:p>
          <a:p>
            <a:pPr lvl="1"/>
            <a:r>
              <a:rPr lang="en-US" dirty="0"/>
              <a:t>Sales → Rows</a:t>
            </a:r>
          </a:p>
          <a:p>
            <a:pPr lvl="1"/>
            <a:r>
              <a:rPr lang="en-US" dirty="0"/>
              <a:t>Profit → Rows</a:t>
            </a:r>
          </a:p>
          <a:p>
            <a:endParaRPr lang="en-US" dirty="0"/>
          </a:p>
          <a:p>
            <a:r>
              <a:rPr lang="en-US" dirty="0"/>
              <a:t>Then use:</a:t>
            </a:r>
          </a:p>
          <a:p>
            <a:endParaRPr lang="en-US" dirty="0"/>
          </a:p>
          <a:p>
            <a:r>
              <a:rPr lang="en-US" dirty="0"/>
              <a:t>Dual Axis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do Sales and Profit change over time?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496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Combination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/>
              <a:t>Use:</a:t>
            </a:r>
          </a:p>
          <a:p>
            <a:endParaRPr lang="en-US" dirty="0"/>
          </a:p>
          <a:p>
            <a:pPr lvl="1"/>
            <a:r>
              <a:rPr lang="en-US" dirty="0"/>
              <a:t>Bar = Sales</a:t>
            </a:r>
          </a:p>
          <a:p>
            <a:pPr lvl="1"/>
            <a:r>
              <a:rPr lang="en-US" dirty="0"/>
              <a:t>Line = Profit</a:t>
            </a:r>
          </a:p>
          <a:p>
            <a:r>
              <a:rPr lang="en-US" dirty="0"/>
              <a:t>Business Requirement</a:t>
            </a:r>
          </a:p>
          <a:p>
            <a:endParaRPr lang="en-US" dirty="0"/>
          </a:p>
          <a:p>
            <a:r>
              <a:rPr lang="en-US" dirty="0"/>
              <a:t>Show monthly Sales as bars and Profit as a line.</a:t>
            </a:r>
          </a:p>
          <a:p>
            <a:endParaRPr lang="en-US" dirty="0"/>
          </a:p>
          <a:p>
            <a:r>
              <a:rPr lang="en-US" dirty="0"/>
              <a:t>Business Value</a:t>
            </a:r>
          </a:p>
          <a:p>
            <a:endParaRPr lang="en-US" dirty="0"/>
          </a:p>
          <a:p>
            <a:r>
              <a:rPr lang="en-US" dirty="0"/>
              <a:t>Users can see volume and profitability together.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74453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Scatter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the relationship between two measures.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Sales → Columns</a:t>
            </a:r>
          </a:p>
          <a:p>
            <a:r>
              <a:rPr lang="en-US" dirty="0"/>
              <a:t>Profit → Rows</a:t>
            </a:r>
          </a:p>
          <a:p>
            <a:endParaRPr lang="en-US" dirty="0"/>
          </a:p>
          <a:p>
            <a:r>
              <a:rPr lang="en-US" dirty="0"/>
              <a:t>Add:</a:t>
            </a:r>
          </a:p>
          <a:p>
            <a:endParaRPr lang="en-US" dirty="0"/>
          </a:p>
          <a:p>
            <a:r>
              <a:rPr lang="en-US" dirty="0"/>
              <a:t>Customer Name → Detail</a:t>
            </a:r>
          </a:p>
          <a:p>
            <a:r>
              <a:rPr lang="en-US" dirty="0"/>
              <a:t>Add</a:t>
            </a:r>
          </a:p>
          <a:p>
            <a:r>
              <a:rPr lang="en-US" dirty="0"/>
              <a:t>Category → Color</a:t>
            </a:r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Do high-sales customers also generate high profit?.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77096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Histogram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the distribution of a numeric field.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/>
              <a:t>Create a histogram of:</a:t>
            </a:r>
          </a:p>
          <a:p>
            <a:endParaRPr lang="en-US" dirty="0"/>
          </a:p>
          <a:p>
            <a:r>
              <a:rPr lang="en-US" dirty="0"/>
              <a:t>Sales</a:t>
            </a:r>
          </a:p>
          <a:p>
            <a:endParaRPr lang="en-US" dirty="0"/>
          </a:p>
          <a:p>
            <a:r>
              <a:rPr lang="en-US" dirty="0"/>
              <a:t>Steps</a:t>
            </a:r>
          </a:p>
          <a:p>
            <a:pPr lvl="1"/>
            <a:r>
              <a:rPr lang="en-US" dirty="0"/>
              <a:t>Right-click Sales.</a:t>
            </a:r>
          </a:p>
          <a:p>
            <a:pPr lvl="1"/>
            <a:r>
              <a:rPr lang="en-US" dirty="0"/>
              <a:t>Create → Bin.</a:t>
            </a:r>
          </a:p>
          <a:p>
            <a:pPr lvl="1"/>
            <a:r>
              <a:rPr lang="en-US" dirty="0"/>
              <a:t>Select an appropriate bin size.</a:t>
            </a:r>
          </a:p>
          <a:p>
            <a:pPr lvl="1"/>
            <a:r>
              <a:rPr lang="en-US" dirty="0"/>
              <a:t>Place Sales Bin on Columns.</a:t>
            </a:r>
          </a:p>
          <a:p>
            <a:pPr lvl="1"/>
            <a:r>
              <a:rPr lang="en-US" dirty="0"/>
              <a:t>Place Number of Records on Rows.</a:t>
            </a:r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are order sales values distributed?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8383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Box Plot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Understand distribution, median, spread and potential outliers.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Category → Columns</a:t>
            </a:r>
          </a:p>
          <a:p>
            <a:pPr lvl="1"/>
            <a:r>
              <a:rPr lang="en-US" dirty="0"/>
              <a:t>Sales → Rows</a:t>
            </a:r>
          </a:p>
          <a:p>
            <a:endParaRPr lang="en-US" dirty="0"/>
          </a:p>
          <a:p>
            <a:r>
              <a:rPr lang="en-US" dirty="0"/>
              <a:t>Use:</a:t>
            </a:r>
          </a:p>
          <a:p>
            <a:endParaRPr lang="en-US" dirty="0"/>
          </a:p>
          <a:p>
            <a:r>
              <a:rPr lang="en-US" dirty="0"/>
              <a:t>Show Me → Box-and-Whisker Plot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does the distribution of Sales differ across Categories?</a:t>
            </a:r>
          </a:p>
          <a:p>
            <a:endParaRPr lang="en-US" dirty="0"/>
          </a:p>
          <a:p>
            <a:r>
              <a:rPr lang="en-US" dirty="0"/>
              <a:t>Useful For</a:t>
            </a:r>
          </a:p>
          <a:p>
            <a:pPr lvl="1"/>
            <a:r>
              <a:rPr lang="en-US" dirty="0"/>
              <a:t>Outlier detection</a:t>
            </a:r>
          </a:p>
          <a:p>
            <a:pPr lvl="1"/>
            <a:r>
              <a:rPr lang="en-US" dirty="0"/>
              <a:t>Comparing distributions</a:t>
            </a:r>
          </a:p>
          <a:p>
            <a:pPr lvl="1"/>
            <a:r>
              <a:rPr lang="en-US" dirty="0"/>
              <a:t>Understanding variability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5911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Treemap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hierarchical part-to-whole relationships.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Category → Color</a:t>
            </a:r>
          </a:p>
          <a:p>
            <a:pPr lvl="1"/>
            <a:r>
              <a:rPr lang="en-US" dirty="0"/>
              <a:t>Sales → Size</a:t>
            </a:r>
          </a:p>
          <a:p>
            <a:pPr lvl="1"/>
            <a:r>
              <a:rPr lang="en-US" dirty="0"/>
              <a:t>Sub-Category → Detail</a:t>
            </a:r>
          </a:p>
          <a:p>
            <a:pPr lvl="1"/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Which sub-categories contribute the most Sales?</a:t>
            </a:r>
          </a:p>
          <a:p>
            <a:endParaRPr lang="en-US" dirty="0"/>
          </a:p>
          <a:p>
            <a:r>
              <a:rPr lang="en-US" dirty="0"/>
              <a:t>Best For</a:t>
            </a:r>
          </a:p>
          <a:p>
            <a:endParaRPr lang="en-US" dirty="0"/>
          </a:p>
          <a:p>
            <a:r>
              <a:rPr lang="en-US" dirty="0"/>
              <a:t>Hierarchical business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099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Packed Bubble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Represent measures using bubble size.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Sub-Category → Detail</a:t>
            </a:r>
          </a:p>
          <a:p>
            <a:pPr lvl="1"/>
            <a:r>
              <a:rPr lang="en-US" dirty="0"/>
              <a:t>Sales → Size</a:t>
            </a:r>
          </a:p>
          <a:p>
            <a:pPr lvl="1"/>
            <a:r>
              <a:rPr lang="en-US" dirty="0"/>
              <a:t>Category → Color</a:t>
            </a:r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Which sub-categories have the largest Sales?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07194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Gantt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duration or progress across time.</a:t>
            </a:r>
          </a:p>
          <a:p>
            <a:endParaRPr lang="en-US" dirty="0"/>
          </a:p>
          <a:p>
            <a:r>
              <a:rPr lang="en-US" dirty="0"/>
              <a:t>Typical Uses</a:t>
            </a:r>
          </a:p>
          <a:p>
            <a:pPr lvl="1"/>
            <a:r>
              <a:rPr lang="en-US" dirty="0"/>
              <a:t>Project schedules</a:t>
            </a:r>
          </a:p>
          <a:p>
            <a:pPr lvl="1"/>
            <a:r>
              <a:rPr lang="en-US" dirty="0"/>
              <a:t>Delivery duration</a:t>
            </a:r>
          </a:p>
          <a:p>
            <a:pPr lvl="1"/>
            <a:r>
              <a:rPr lang="en-US" dirty="0"/>
              <a:t>Task timelines</a:t>
            </a:r>
          </a:p>
          <a:p>
            <a:pPr lvl="1"/>
            <a:r>
              <a:rPr lang="en-US" dirty="0"/>
              <a:t>Process analysis</a:t>
            </a:r>
          </a:p>
          <a:p>
            <a:r>
              <a:rPr lang="en-US" dirty="0"/>
              <a:t>Sample Superstore Teaching Example</a:t>
            </a:r>
          </a:p>
          <a:p>
            <a:endParaRPr lang="en-US" dirty="0"/>
          </a:p>
          <a:p>
            <a:r>
              <a:rPr lang="en-US" dirty="0"/>
              <a:t>Create a delivery-duration analysis if the available Superstore version contains suitable order and shipping date fields.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long does it take to ship orders?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52125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Bullet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Compare actual performance against a target.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Actual Sales</a:t>
            </a:r>
          </a:p>
          <a:p>
            <a:r>
              <a:rPr lang="en-US" dirty="0"/>
              <a:t>      vs</a:t>
            </a:r>
          </a:p>
          <a:p>
            <a:r>
              <a:rPr lang="en-US" dirty="0"/>
              <a:t>Sales Target</a:t>
            </a:r>
          </a:p>
          <a:p>
            <a:endParaRPr lang="en-US" dirty="0"/>
          </a:p>
          <a:p>
            <a:r>
              <a:rPr lang="en-US" dirty="0"/>
              <a:t>Business Use</a:t>
            </a:r>
          </a:p>
          <a:p>
            <a:pPr lvl="1"/>
            <a:r>
              <a:rPr lang="en-US" dirty="0"/>
              <a:t>Sales vs target</a:t>
            </a:r>
          </a:p>
          <a:p>
            <a:pPr lvl="1"/>
            <a:r>
              <a:rPr lang="en-US" dirty="0"/>
              <a:t>Profit vs target</a:t>
            </a:r>
          </a:p>
          <a:p>
            <a:pPr lvl="1"/>
            <a:r>
              <a:rPr lang="en-US" dirty="0"/>
              <a:t>Actual vs budget</a:t>
            </a:r>
          </a:p>
          <a:p>
            <a:pPr lvl="1"/>
            <a:r>
              <a:rPr lang="en-US" dirty="0"/>
              <a:t>Actual vs forecast</a:t>
            </a:r>
          </a:p>
          <a:p>
            <a:pPr lvl="1"/>
            <a:r>
              <a:rPr lang="en-US" dirty="0"/>
              <a:t>Key Requirement</a:t>
            </a:r>
          </a:p>
          <a:p>
            <a:endParaRPr lang="en-US" dirty="0"/>
          </a:p>
          <a:p>
            <a:r>
              <a:rPr lang="en-US" dirty="0"/>
              <a:t>A target measure or parameter must be available.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462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Waterfall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how positive and negative contributions lead from one value to another.</a:t>
            </a:r>
          </a:p>
          <a:p>
            <a:endParaRPr lang="en-US" dirty="0"/>
          </a:p>
          <a:p>
            <a:r>
              <a:rPr lang="en-US" dirty="0"/>
              <a:t>Example Business Scenario</a:t>
            </a:r>
          </a:p>
          <a:p>
            <a:endParaRPr lang="en-US" dirty="0"/>
          </a:p>
          <a:p>
            <a:r>
              <a:rPr lang="en-US" dirty="0"/>
              <a:t>Start with:</a:t>
            </a:r>
          </a:p>
          <a:p>
            <a:endParaRPr lang="en-US" dirty="0"/>
          </a:p>
          <a:p>
            <a:r>
              <a:rPr lang="en-US" dirty="0"/>
              <a:t>Sales</a:t>
            </a:r>
          </a:p>
          <a:p>
            <a:endParaRPr lang="en-US" dirty="0"/>
          </a:p>
          <a:p>
            <a:r>
              <a:rPr lang="en-US" dirty="0"/>
              <a:t>Then show contributions such as:</a:t>
            </a:r>
          </a:p>
          <a:p>
            <a:endParaRPr lang="en-US" dirty="0"/>
          </a:p>
          <a:p>
            <a:pPr lvl="1"/>
            <a:r>
              <a:rPr lang="en-US" dirty="0"/>
              <a:t>Discounts</a:t>
            </a:r>
          </a:p>
          <a:p>
            <a:pPr lvl="1"/>
            <a:r>
              <a:rPr lang="en-US" dirty="0"/>
              <a:t>Shipping Costs</a:t>
            </a:r>
          </a:p>
          <a:p>
            <a:pPr lvl="1"/>
            <a:r>
              <a:rPr lang="en-US" dirty="0"/>
              <a:t>Other adjustments</a:t>
            </a:r>
          </a:p>
          <a:p>
            <a:pPr lvl="1"/>
            <a:r>
              <a:rPr lang="en-US" dirty="0"/>
              <a:t>Profit</a:t>
            </a:r>
          </a:p>
          <a:p>
            <a:pPr lvl="1"/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did we move from Revenue to Profit?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51613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Waterfall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endParaRPr lang="en-US" dirty="0"/>
          </a:p>
          <a:p>
            <a:r>
              <a:rPr lang="en-US" dirty="0"/>
              <a:t>Show how positive and negative contributions lead from one value to another.</a:t>
            </a:r>
          </a:p>
          <a:p>
            <a:endParaRPr lang="en-US" dirty="0"/>
          </a:p>
          <a:p>
            <a:r>
              <a:rPr lang="en-US" dirty="0"/>
              <a:t>Example Business Scenario</a:t>
            </a:r>
          </a:p>
          <a:p>
            <a:endParaRPr lang="en-US" dirty="0"/>
          </a:p>
          <a:p>
            <a:r>
              <a:rPr lang="en-US" dirty="0"/>
              <a:t>Start with:</a:t>
            </a:r>
          </a:p>
          <a:p>
            <a:endParaRPr lang="en-US" dirty="0"/>
          </a:p>
          <a:p>
            <a:r>
              <a:rPr lang="en-US" dirty="0"/>
              <a:t>Sales</a:t>
            </a:r>
          </a:p>
          <a:p>
            <a:endParaRPr lang="en-US" dirty="0"/>
          </a:p>
          <a:p>
            <a:r>
              <a:rPr lang="en-US" dirty="0"/>
              <a:t>Then show contributions such as:</a:t>
            </a:r>
          </a:p>
          <a:p>
            <a:endParaRPr lang="en-US" dirty="0"/>
          </a:p>
          <a:p>
            <a:pPr lvl="1"/>
            <a:r>
              <a:rPr lang="en-US" dirty="0"/>
              <a:t>Discounts</a:t>
            </a:r>
          </a:p>
          <a:p>
            <a:pPr lvl="1"/>
            <a:r>
              <a:rPr lang="en-US" dirty="0"/>
              <a:t>Shipping Costs</a:t>
            </a:r>
          </a:p>
          <a:p>
            <a:pPr lvl="1"/>
            <a:r>
              <a:rPr lang="en-US" dirty="0"/>
              <a:t>Other adjustments</a:t>
            </a:r>
          </a:p>
          <a:p>
            <a:pPr lvl="1"/>
            <a:r>
              <a:rPr lang="en-US" dirty="0"/>
              <a:t>Profit</a:t>
            </a:r>
          </a:p>
          <a:p>
            <a:pPr lvl="1"/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How did we move from Revenue to Profit?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87897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Waterfall Chart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Maps</a:t>
            </a:r>
          </a:p>
          <a:p>
            <a:endParaRPr lang="en-US" dirty="0"/>
          </a:p>
          <a:p>
            <a:r>
              <a:rPr lang="en-US" dirty="0"/>
              <a:t>Tableau supports geographic visualizations when geographic fields are correctly recognized.</a:t>
            </a:r>
          </a:p>
          <a:p>
            <a:endParaRPr lang="en-US" dirty="0"/>
          </a:p>
          <a:p>
            <a:r>
              <a:rPr lang="en-US" dirty="0"/>
              <a:t>Sample Superstore Fields</a:t>
            </a:r>
          </a:p>
          <a:p>
            <a:pPr lvl="1"/>
            <a:r>
              <a:rPr lang="en-US" dirty="0"/>
              <a:t>Country</a:t>
            </a:r>
          </a:p>
          <a:p>
            <a:pPr lvl="1"/>
            <a:r>
              <a:rPr lang="en-US" dirty="0"/>
              <a:t>State</a:t>
            </a:r>
          </a:p>
          <a:p>
            <a:pPr lvl="1"/>
            <a:r>
              <a:rPr lang="en-US" dirty="0"/>
              <a:t>City</a:t>
            </a:r>
          </a:p>
          <a:p>
            <a:pPr lvl="1"/>
            <a:r>
              <a:rPr lang="en-US" dirty="0"/>
              <a:t>Postal Code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State → Detail</a:t>
            </a:r>
          </a:p>
          <a:p>
            <a:pPr lvl="1"/>
            <a:r>
              <a:rPr lang="en-US" dirty="0"/>
              <a:t>Sales → Size</a:t>
            </a:r>
          </a:p>
          <a:p>
            <a:pPr lvl="1"/>
            <a:r>
              <a:rPr lang="en-US" dirty="0"/>
              <a:t>Profit → Color</a:t>
            </a:r>
          </a:p>
          <a:p>
            <a:pPr lvl="1"/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Which states generate high Sales and Profit?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093362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Types of Tableau Filters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Extract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Source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Context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Dimension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Measure Filter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Table Calculation Filter</a:t>
            </a:r>
          </a:p>
          <a:p>
            <a:endParaRPr lang="en-US" dirty="0"/>
          </a:p>
          <a:p>
            <a:r>
              <a:rPr lang="en-US" dirty="0"/>
              <a:t>Quick Filters</a:t>
            </a:r>
          </a:p>
          <a:p>
            <a:endParaRPr lang="en-US" dirty="0"/>
          </a:p>
          <a:p>
            <a:r>
              <a:rPr lang="en-US" dirty="0"/>
              <a:t>Quick filters are interactive controls that allow users to change filtering selections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47475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Purpose</a:t>
            </a:r>
          </a:p>
          <a:p>
            <a:r>
              <a:rPr lang="en-US" dirty="0"/>
              <a:t>	Limits the data stored in an extract.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Extract only:</a:t>
            </a:r>
          </a:p>
          <a:p>
            <a:r>
              <a:rPr lang="en-US" dirty="0"/>
              <a:t>	Order Date &gt;= 2025</a:t>
            </a:r>
          </a:p>
          <a:p>
            <a:r>
              <a:rPr lang="en-US" dirty="0"/>
              <a:t>Instead of storing all historical data.</a:t>
            </a:r>
          </a:p>
          <a:p>
            <a:endParaRPr lang="en-US" dirty="0"/>
          </a:p>
          <a:p>
            <a:r>
              <a:rPr lang="en-US" dirty="0"/>
              <a:t>Benefit</a:t>
            </a:r>
          </a:p>
          <a:p>
            <a:r>
              <a:rPr lang="en-US" dirty="0"/>
              <a:t>	Can reduce the volume of data stored in the extract.</a:t>
            </a:r>
          </a:p>
          <a:p>
            <a:endParaRPr lang="en-US" dirty="0"/>
          </a:p>
          <a:p>
            <a:r>
              <a:rPr lang="en-US" dirty="0"/>
              <a:t>Business Scenario	</a:t>
            </a:r>
          </a:p>
          <a:p>
            <a:r>
              <a:rPr lang="en-US" dirty="0"/>
              <a:t>	A company only needs the last three years of data for a dashboard.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6727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Data Source Filter</a:t>
            </a:r>
          </a:p>
          <a:p>
            <a:r>
              <a:rPr lang="en-US" dirty="0"/>
              <a:t>Purpose</a:t>
            </a:r>
          </a:p>
          <a:p>
            <a:r>
              <a:rPr lang="en-US" dirty="0"/>
              <a:t>	Filters data at the data-source level.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dirty="0"/>
              <a:t>Keep only:</a:t>
            </a:r>
          </a:p>
          <a:p>
            <a:r>
              <a:rPr lang="en-US" dirty="0"/>
              <a:t>	Region = West</a:t>
            </a:r>
          </a:p>
          <a:p>
            <a:endParaRPr lang="en-US" dirty="0"/>
          </a:p>
          <a:p>
            <a:r>
              <a:rPr lang="en-US" dirty="0"/>
              <a:t>Effect</a:t>
            </a:r>
          </a:p>
          <a:p>
            <a:r>
              <a:rPr lang="en-US" dirty="0"/>
              <a:t>	The filter can affect worksheets using that data source.</a:t>
            </a:r>
          </a:p>
          <a:p>
            <a:endParaRPr lang="en-US" dirty="0"/>
          </a:p>
          <a:p>
            <a:r>
              <a:rPr lang="en-US" dirty="0"/>
              <a:t>Use Case</a:t>
            </a:r>
          </a:p>
          <a:p>
            <a:r>
              <a:rPr lang="en-US" dirty="0"/>
              <a:t>	A project is designed specifically for one business region.</a:t>
            </a:r>
          </a:p>
        </p:txBody>
      </p:sp>
    </p:spTree>
    <p:extLst>
      <p:ext uri="{BB962C8B-B14F-4D97-AF65-F5344CB8AC3E}">
        <p14:creationId xmlns:p14="http://schemas.microsoft.com/office/powerpoint/2010/main" val="91970914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Extract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Dimension Filter</a:t>
            </a:r>
          </a:p>
          <a:p>
            <a:endParaRPr lang="en-US" dirty="0"/>
          </a:p>
          <a:p>
            <a:r>
              <a:rPr lang="en-US" dirty="0"/>
              <a:t>Definition</a:t>
            </a:r>
          </a:p>
          <a:p>
            <a:r>
              <a:rPr lang="en-US" dirty="0"/>
              <a:t>	A dimension filter filters categorical fields.</a:t>
            </a:r>
          </a:p>
          <a:p>
            <a:endParaRPr lang="en-US" dirty="0"/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Region = West</a:t>
            </a:r>
          </a:p>
          <a:p>
            <a:pPr lvl="1"/>
            <a:r>
              <a:rPr lang="en-US" dirty="0"/>
              <a:t>Category = Technology</a:t>
            </a:r>
          </a:p>
          <a:p>
            <a:pPr lvl="1"/>
            <a:r>
              <a:rPr lang="en-US" dirty="0"/>
              <a:t>Segment = Corporate</a:t>
            </a:r>
          </a:p>
          <a:p>
            <a:pPr lvl="1"/>
            <a:endParaRPr lang="en-US" dirty="0"/>
          </a:p>
          <a:p>
            <a:r>
              <a:rPr lang="en-US" b="1" dirty="0"/>
              <a:t>Dimension Filter Options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General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Wildcard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Condition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Top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35287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Measure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measure filter filters aggregated numerical values.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/>
              <a:t>SUM(Sales) &gt; 100,000</a:t>
            </a:r>
          </a:p>
          <a:p>
            <a:endParaRPr lang="en-US" dirty="0"/>
          </a:p>
          <a:p>
            <a:r>
              <a:rPr lang="en-US" dirty="0"/>
              <a:t>Important Concept</a:t>
            </a:r>
          </a:p>
          <a:p>
            <a:endParaRPr lang="en-US" dirty="0"/>
          </a:p>
          <a:p>
            <a:r>
              <a:rPr lang="en-US" dirty="0"/>
              <a:t>The aggregation is important.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SUM(Sales)</a:t>
            </a:r>
          </a:p>
          <a:p>
            <a:r>
              <a:rPr lang="en-US" dirty="0"/>
              <a:t>AVG(Profit)</a:t>
            </a:r>
          </a:p>
          <a:p>
            <a:r>
              <a:rPr lang="en-US" dirty="0"/>
              <a:t>COUNT(Order ID)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Show only sub-categories with Sales greater than a selected threshold.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51758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Measure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690143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measure filter filters aggregated numerical values.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/>
              <a:t>SUM(Sales) &gt; 100,000</a:t>
            </a:r>
          </a:p>
          <a:p>
            <a:endParaRPr lang="en-US" dirty="0"/>
          </a:p>
          <a:p>
            <a:r>
              <a:rPr lang="en-US" dirty="0"/>
              <a:t>Important Concept</a:t>
            </a:r>
          </a:p>
          <a:p>
            <a:endParaRPr lang="en-US" dirty="0"/>
          </a:p>
          <a:p>
            <a:r>
              <a:rPr lang="en-US" dirty="0"/>
              <a:t>The aggregation is important.</a:t>
            </a:r>
          </a:p>
          <a:p>
            <a:endParaRPr lang="en-US" dirty="0"/>
          </a:p>
          <a:p>
            <a:r>
              <a:rPr lang="en-US" dirty="0"/>
              <a:t>Examples:</a:t>
            </a:r>
          </a:p>
          <a:p>
            <a:endParaRPr lang="en-US" dirty="0"/>
          </a:p>
          <a:p>
            <a:r>
              <a:rPr lang="en-US" dirty="0"/>
              <a:t>SUM(Sales)</a:t>
            </a:r>
          </a:p>
          <a:p>
            <a:r>
              <a:rPr lang="en-US" dirty="0"/>
              <a:t>AVG(Profit)</a:t>
            </a:r>
          </a:p>
          <a:p>
            <a:r>
              <a:rPr lang="en-US" dirty="0"/>
              <a:t>COUNT(Order ID)</a:t>
            </a:r>
          </a:p>
          <a:p>
            <a:endParaRPr lang="en-US" dirty="0"/>
          </a:p>
          <a:p>
            <a:r>
              <a:rPr lang="en-US" dirty="0"/>
              <a:t>Business Question</a:t>
            </a:r>
          </a:p>
          <a:p>
            <a:endParaRPr lang="en-US" dirty="0"/>
          </a:p>
          <a:p>
            <a:r>
              <a:rPr lang="en-US" dirty="0"/>
              <a:t>Show only sub-categories with Sales greater than a selected threshold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6696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Context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904113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context filter creates a filtered subset that other filters can operate against.</a:t>
            </a:r>
          </a:p>
          <a:p>
            <a:endParaRPr lang="en-US" dirty="0"/>
          </a:p>
          <a:p>
            <a:r>
              <a:rPr lang="en-US" dirty="0"/>
              <a:t>Conceptually:</a:t>
            </a:r>
          </a:p>
          <a:p>
            <a:endParaRPr lang="en-US" dirty="0"/>
          </a:p>
          <a:p>
            <a:r>
              <a:rPr lang="en-US" dirty="0"/>
              <a:t>Full Dataset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Context Filter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Context Data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Other Filters</a:t>
            </a:r>
          </a:p>
          <a:p>
            <a:r>
              <a:rPr lang="en-US" dirty="0"/>
              <a:t>     ↓</a:t>
            </a:r>
          </a:p>
          <a:p>
            <a:r>
              <a:rPr lang="en-US" dirty="0"/>
              <a:t>Final Result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endParaRPr lang="en-US" dirty="0"/>
          </a:p>
          <a:p>
            <a:r>
              <a:rPr lang="en-US" dirty="0" err="1"/>
              <a:t>Context:Region</a:t>
            </a:r>
            <a:r>
              <a:rPr lang="en-US" dirty="0"/>
              <a:t> = West</a:t>
            </a:r>
          </a:p>
          <a:p>
            <a:endParaRPr lang="en-US" dirty="0"/>
          </a:p>
          <a:p>
            <a:r>
              <a:rPr lang="en-US" dirty="0"/>
              <a:t>Then: Top 10 Customers by Sales</a:t>
            </a:r>
          </a:p>
        </p:txBody>
      </p:sp>
    </p:spTree>
    <p:extLst>
      <p:ext uri="{BB962C8B-B14F-4D97-AF65-F5344CB8AC3E}">
        <p14:creationId xmlns:p14="http://schemas.microsoft.com/office/powerpoint/2010/main" val="12933277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Context Filter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904113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Why Use Context Filters?</a:t>
            </a:r>
          </a:p>
          <a:p>
            <a:endParaRPr lang="en-US" dirty="0"/>
          </a:p>
          <a:p>
            <a:r>
              <a:rPr lang="en-US" dirty="0"/>
              <a:t>Common Use Cases</a:t>
            </a:r>
          </a:p>
          <a:p>
            <a:pPr lvl="1"/>
            <a:r>
              <a:rPr lang="en-US" dirty="0"/>
              <a:t>Top N within a selected category/region</a:t>
            </a:r>
          </a:p>
          <a:p>
            <a:pPr lvl="1"/>
            <a:r>
              <a:rPr lang="en-US" dirty="0"/>
              <a:t>Dependent filtering</a:t>
            </a:r>
          </a:p>
          <a:p>
            <a:pPr lvl="1"/>
            <a:r>
              <a:rPr lang="en-US" dirty="0"/>
              <a:t>Certain performance scenarios</a:t>
            </a:r>
          </a:p>
          <a:p>
            <a:endParaRPr lang="en-US" dirty="0"/>
          </a:p>
          <a:p>
            <a:r>
              <a:rPr lang="en-US" dirty="0"/>
              <a:t>Creating a subset for subsequent filters</a:t>
            </a:r>
          </a:p>
          <a:p>
            <a:endParaRPr lang="en-US" dirty="0"/>
          </a:p>
          <a:p>
            <a:r>
              <a:rPr lang="en-US" dirty="0"/>
              <a:t>Business Requirement:</a:t>
            </a:r>
          </a:p>
          <a:p>
            <a:endParaRPr lang="en-US" dirty="0"/>
          </a:p>
          <a:p>
            <a:r>
              <a:rPr lang="en-US" dirty="0"/>
              <a:t>Show the Top 10 Customers by Sales only within the West region.</a:t>
            </a:r>
          </a:p>
          <a:p>
            <a:endParaRPr lang="en-US" dirty="0"/>
          </a:p>
          <a:p>
            <a:r>
              <a:rPr lang="en-US" dirty="0"/>
              <a:t>Approach</a:t>
            </a:r>
          </a:p>
          <a:p>
            <a:endParaRPr lang="en-US" dirty="0"/>
          </a:p>
          <a:p>
            <a:r>
              <a:rPr lang="en-US" dirty="0"/>
              <a:t>Region = West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Context Filter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Top 10 Customers</a:t>
            </a:r>
          </a:p>
        </p:txBody>
      </p:sp>
    </p:spTree>
    <p:extLst>
      <p:ext uri="{BB962C8B-B14F-4D97-AF65-F5344CB8AC3E}">
        <p14:creationId xmlns:p14="http://schemas.microsoft.com/office/powerpoint/2010/main" val="12747405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Filter Orders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904113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Filter Order — Simplified</a:t>
            </a:r>
          </a:p>
          <a:p>
            <a:endParaRPr lang="en-US" dirty="0"/>
          </a:p>
          <a:p>
            <a:r>
              <a:rPr lang="en-US" dirty="0"/>
              <a:t>A useful conceptual order is:</a:t>
            </a:r>
          </a:p>
          <a:p>
            <a:endParaRPr lang="en-US" dirty="0"/>
          </a:p>
          <a:p>
            <a:r>
              <a:rPr lang="en-US" dirty="0"/>
              <a:t>Extract Filters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Data Source Filters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Context Filters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Dimension Filters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Measure Filters</a:t>
            </a:r>
          </a:p>
          <a:p>
            <a:r>
              <a:rPr lang="en-US" dirty="0"/>
              <a:t>       ↓</a:t>
            </a:r>
          </a:p>
          <a:p>
            <a:r>
              <a:rPr lang="en-US" dirty="0"/>
              <a:t>Table Calculations</a:t>
            </a:r>
          </a:p>
        </p:txBody>
      </p:sp>
    </p:spTree>
    <p:extLst>
      <p:ext uri="{BB962C8B-B14F-4D97-AF65-F5344CB8AC3E}">
        <p14:creationId xmlns:p14="http://schemas.microsoft.com/office/powerpoint/2010/main" val="23925248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is LOD in Tableau?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LOD stands for Level of Detail. In Tableau, LOD expressions allow us to control the level at which calculations are performed, independently of the dimensions displayed in the visualization.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Why do we use LOD?</a:t>
            </a:r>
          </a:p>
          <a:p>
            <a:endParaRPr lang="en-US" dirty="0"/>
          </a:p>
          <a:p>
            <a:r>
              <a:rPr lang="en-US" dirty="0"/>
              <a:t>Your worksheet contains: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Sub-Category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r>
              <a:rPr lang="en-US" dirty="0"/>
              <a:t>You want to display sales by category, but you also want to calculate the total sales for the entire dataset.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Without LOD, the calculation may change according to the dimensions in the view. With LOD, you can control the level at which sales are calculated.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34043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FIXED LOD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Calculates a value using the dimensions you explicitly specify, regardless of the dimensions in the view.</a:t>
            </a:r>
          </a:p>
          <a:p>
            <a:endParaRPr lang="en-US" dirty="0"/>
          </a:p>
          <a:p>
            <a:r>
              <a:rPr lang="en-US" dirty="0"/>
              <a:t>{ FIXED [Dimension] : AGGREGATION([Measure]) }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three parts:</a:t>
            </a:r>
          </a:p>
          <a:p>
            <a:pPr lvl="1"/>
            <a:r>
              <a:rPr lang="en-US" dirty="0"/>
              <a:t>- FIXED — specifies the level at which to calculate.</a:t>
            </a:r>
          </a:p>
          <a:p>
            <a:pPr lvl="1"/>
            <a:r>
              <a:rPr lang="en-US" dirty="0"/>
              <a:t>- [Dimension] — specifies the grouping level. This is optional.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AGGREGATION([Measure]) — specifies the calculation, such as SUM, AVG, MIN or MAX.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lvl="1"/>
            <a:r>
              <a:rPr lang="en-US" dirty="0"/>
              <a:t>// FIXED without a dimension</a:t>
            </a:r>
          </a:p>
          <a:p>
            <a:pPr lvl="1"/>
            <a:r>
              <a:rPr lang="en-US" dirty="0"/>
              <a:t>{ FIXED : SUM([Sales]) }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// FIXED with a dimension</a:t>
            </a:r>
          </a:p>
          <a:p>
            <a:pPr lvl="1"/>
            <a:r>
              <a:rPr lang="en-US" dirty="0"/>
              <a:t>{ FIXED [Region] : SUM([Sales])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4548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INCLUDE LOD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INCLUDE LOD is used when you want Tableau to calculate a measure at a more detailed level than the dimensions currently displayed in the view, and then aggregate those results to the view's level.</a:t>
            </a:r>
          </a:p>
          <a:p>
            <a:endParaRPr lang="en-US" dirty="0"/>
          </a:p>
          <a:p>
            <a:r>
              <a:rPr lang="en-US" b="1" dirty="0"/>
              <a:t>1. What is INCLUDE LOD?</a:t>
            </a:r>
          </a:p>
          <a:p>
            <a:r>
              <a:rPr lang="en-US" dirty="0"/>
              <a:t>Suppose your worksheet displays: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r>
              <a:rPr lang="en-US" dirty="0"/>
              <a:t>Now you want to calculate the average sales per customer within each region, even though Customer Name is not displayed in the view.</a:t>
            </a:r>
          </a:p>
          <a:p>
            <a:endParaRPr lang="en-US" dirty="0"/>
          </a:p>
          <a:p>
            <a:r>
              <a:rPr lang="en-US" dirty="0"/>
              <a:t>INCLUDE LOD allows Tableau to calculate sales for each customer first and then average those customer-level sales within each region.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{ INCLUDE [Dimension] : AGGREGATION([Measure]) }</a:t>
            </a:r>
          </a:p>
          <a:p>
            <a:endParaRPr lang="en-US" dirty="0"/>
          </a:p>
          <a:p>
            <a:r>
              <a:rPr lang="en-US" dirty="0"/>
              <a:t>{ INCLUDE [Dimension] : AGGREGATION([Measure]) }</a:t>
            </a:r>
          </a:p>
        </p:txBody>
      </p:sp>
    </p:spTree>
    <p:extLst>
      <p:ext uri="{BB962C8B-B14F-4D97-AF65-F5344CB8AC3E}">
        <p14:creationId xmlns:p14="http://schemas.microsoft.com/office/powerpoint/2010/main" val="249542370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INCLUDE LOD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INCLUDE LOD is used when you want Tableau to calculate a measure at a more detailed level than the dimensions currently displayed in the view, and then aggregate those results to the view's level.</a:t>
            </a:r>
          </a:p>
          <a:p>
            <a:endParaRPr lang="en-US" dirty="0"/>
          </a:p>
          <a:p>
            <a:r>
              <a:rPr lang="en-US" b="1" dirty="0"/>
              <a:t>1. What is INCLUDE LOD?</a:t>
            </a:r>
          </a:p>
          <a:p>
            <a:r>
              <a:rPr lang="en-US" dirty="0"/>
              <a:t>Suppose your worksheet displays: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Region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r>
              <a:rPr lang="en-US" dirty="0"/>
              <a:t>Now you want to calculate the average sales per customer within each region, even though Customer Name is not displayed in the view.</a:t>
            </a:r>
          </a:p>
          <a:p>
            <a:endParaRPr lang="en-US" dirty="0"/>
          </a:p>
          <a:p>
            <a:r>
              <a:rPr lang="en-US" dirty="0"/>
              <a:t>INCLUDE LOD allows Tableau to calculate sales for each customer first and then average those customer-level sales within each region.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{ INCLUDE [Dimension] : AGGREGATION([Measure]) }</a:t>
            </a:r>
          </a:p>
          <a:p>
            <a:endParaRPr lang="en-US" dirty="0"/>
          </a:p>
          <a:p>
            <a:r>
              <a:rPr lang="en-US" dirty="0"/>
              <a:t>{ INCLUDE [Dimension] : AGGREGATION([Measure]) }</a:t>
            </a:r>
          </a:p>
        </p:txBody>
      </p:sp>
    </p:spTree>
    <p:extLst>
      <p:ext uri="{BB962C8B-B14F-4D97-AF65-F5344CB8AC3E}">
        <p14:creationId xmlns:p14="http://schemas.microsoft.com/office/powerpoint/2010/main" val="26185515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EXCLUDE LOD</a:t>
            </a:r>
            <a:endParaRPr 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EXCLUDE LOD is used when you want Tableau to remove a dimension from the level of detail used in a calculation, even though that dimension is present in your worksheet.</a:t>
            </a:r>
          </a:p>
          <a:p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b="1" dirty="0"/>
              <a:t>What is EXCLUDE LOD?</a:t>
            </a:r>
          </a:p>
          <a:p>
            <a:endParaRPr lang="en-US" b="1" dirty="0"/>
          </a:p>
          <a:p>
            <a:r>
              <a:rPr lang="en-US" dirty="0"/>
              <a:t>Suppose your worksheet displays: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Category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Sub-Category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Sales</a:t>
            </a:r>
          </a:p>
          <a:p>
            <a:r>
              <a:rPr lang="en-US" dirty="0"/>
              <a:t>You want to display sales for every sub-category, but also show the total sales for its parent category.</a:t>
            </a:r>
          </a:p>
          <a:p>
            <a:r>
              <a:rPr lang="en-US" dirty="0"/>
              <a:t>EXCLUDE LOD removes Sub-Category from the calculation, allowing Tableau to calculate sales at the Category level.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{ EXCLUDE [Sub-Category] : SUM([Sales]) }</a:t>
            </a:r>
          </a:p>
        </p:txBody>
      </p:sp>
    </p:spTree>
    <p:extLst>
      <p:ext uri="{BB962C8B-B14F-4D97-AF65-F5344CB8AC3E}">
        <p14:creationId xmlns:p14="http://schemas.microsoft.com/office/powerpoint/2010/main" val="331447480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What-If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What-If Analysis in Tableau is a technique used to understand how changing a business input affects the result, such as sales, profit, discount, or revenue targets.</a:t>
            </a:r>
          </a:p>
          <a:p>
            <a:endParaRPr lang="en-US" dirty="0"/>
          </a:p>
          <a:p>
            <a:r>
              <a:rPr lang="en-US" dirty="0"/>
              <a:t>In Tableau, we can perform What-If Analysis using Parameters, Calculated Fields, and Filters or Parameter Actions.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Suppose your current sales are ₹10,00,000. Management wants to know what sales would be if they increased by 5%, 10%, 15%, or 20%.</a:t>
            </a:r>
          </a:p>
        </p:txBody>
      </p:sp>
    </p:spTree>
    <p:extLst>
      <p:ext uri="{BB962C8B-B14F-4D97-AF65-F5344CB8AC3E}">
        <p14:creationId xmlns:p14="http://schemas.microsoft.com/office/powerpoint/2010/main" val="2238421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What-If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What-If Analysis in Tableau is a technique used to understand how changing a business input affects the result, such as sales, profit, discount, or revenue targets.</a:t>
            </a:r>
          </a:p>
          <a:p>
            <a:endParaRPr lang="en-US" dirty="0"/>
          </a:p>
          <a:p>
            <a:r>
              <a:rPr lang="en-US" dirty="0"/>
              <a:t>In Tableau, we can perform What-If Analysis using Parameters, Calculated Fields, and Filters or Parameter Actions.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Suppose your current sales are ₹10,00,000. Management wants to know what sales would be if they increased by 5%, 10%, 15%, or 20%.</a:t>
            </a:r>
          </a:p>
        </p:txBody>
      </p:sp>
    </p:spTree>
    <p:extLst>
      <p:ext uri="{BB962C8B-B14F-4D97-AF65-F5344CB8AC3E}">
        <p14:creationId xmlns:p14="http://schemas.microsoft.com/office/powerpoint/2010/main" val="8323510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E2D4AE-1023-EE0B-907F-D65AF65D0E3D}"/>
              </a:ext>
            </a:extLst>
          </p:cNvPr>
          <p:cNvSpPr txBox="1"/>
          <p:nvPr/>
        </p:nvSpPr>
        <p:spPr>
          <a:xfrm>
            <a:off x="304081" y="345859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Tableau 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DD4E2-EAC6-575D-D678-0C3FC906B6A1}"/>
              </a:ext>
            </a:extLst>
          </p:cNvPr>
          <p:cNvSpPr txBox="1"/>
          <p:nvPr/>
        </p:nvSpPr>
        <p:spPr>
          <a:xfrm>
            <a:off x="523494" y="889843"/>
            <a:ext cx="1120825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Tableau, a Set is a custom subset of data based on selected members of a dimension. Sets allow us to divide data into two groups: IN (members included in the set) and OUT (members not included in the set).</a:t>
            </a:r>
          </a:p>
          <a:p>
            <a:endParaRPr lang="en-US" dirty="0"/>
          </a:p>
          <a:p>
            <a:r>
              <a:rPr lang="en-US" dirty="0"/>
              <a:t>1. Fixed Sets</a:t>
            </a:r>
          </a:p>
          <a:p>
            <a:r>
              <a:rPr lang="en-US" dirty="0"/>
              <a:t>A fixed set contains manually selected members or members defined by a specific condition or ranking. Its membership does not automatically change just because the view changes.</a:t>
            </a:r>
          </a:p>
          <a:p>
            <a:r>
              <a:rPr lang="en-US" dirty="0"/>
              <a:t>Example: Select three customers — Sean Miller, Tamara Chand, and Raymond Buch — and create a set.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Dynamic Sets</a:t>
            </a:r>
          </a:p>
          <a:p>
            <a:r>
              <a:rPr lang="en-US" dirty="0"/>
              <a:t>A dynamic set updates its membership based on the conditions defined for it, such as a Top N ranking or a condition based on sales.</a:t>
            </a:r>
          </a:p>
          <a:p>
            <a:r>
              <a:rPr lang="en-US" dirty="0"/>
              <a:t>Example: Create a Top 10 Customers set based on SUM(Sales). If the underlying data or relevant values change, the members can change accordingly.</a:t>
            </a:r>
          </a:p>
          <a:p>
            <a:endParaRPr lang="en-US" dirty="0"/>
          </a:p>
          <a:p>
            <a:r>
              <a:rPr lang="en-US" b="1" dirty="0"/>
              <a:t>Combined Sets</a:t>
            </a:r>
          </a:p>
          <a:p>
            <a:r>
              <a:rPr lang="en-US" dirty="0"/>
              <a:t>A combined set is created by combining two existing sets from the same data source.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35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{50660389-968C-497A-A734-FFB39E46812A}TFb5ae2469-0bae-4978-b0e0-39dd046150ff9a115ede-a9c3cc5252b0</Template>
  <TotalTime>1387</TotalTime>
  <Words>5106</Words>
  <Application>Microsoft Office PowerPoint</Application>
  <PresentationFormat>Widescreen</PresentationFormat>
  <Paragraphs>1084</Paragraphs>
  <Slides>60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6" baseType="lpstr">
      <vt:lpstr>Aptos</vt:lpstr>
      <vt:lpstr>Aptos Narrow</vt:lpstr>
      <vt:lpstr>Arial</vt:lpstr>
      <vt:lpstr>Calibri</vt:lpstr>
      <vt:lpstr>Calibri Light</vt:lpstr>
      <vt:lpstr>Celestial</vt:lpstr>
      <vt:lpstr>Tableau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babjee reddy</dc:creator>
  <cp:lastModifiedBy>babjee reddy</cp:lastModifiedBy>
  <cp:revision>4</cp:revision>
  <dcterms:created xsi:type="dcterms:W3CDTF">2026-10-07T11:21:38Z</dcterms:created>
  <dcterms:modified xsi:type="dcterms:W3CDTF">2026-10-23T09:53:16Z</dcterms:modified>
</cp:coreProperties>
</file>