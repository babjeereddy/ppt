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51013-03FF-5E39-4436-2650964F70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cap="none" dirty="0"/>
              <a:t>Qlik Sense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4081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A1A214-DC93-44F6-853B-D38644767CFE}"/>
              </a:ext>
            </a:extLst>
          </p:cNvPr>
          <p:cNvSpPr txBox="1"/>
          <p:nvPr/>
        </p:nvSpPr>
        <p:spPr>
          <a:xfrm>
            <a:off x="199592" y="810882"/>
            <a:ext cx="11368430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dirty="0"/>
              <a:t>Qlik Sense is a Business Intelligence (BI) and data analytics tool used to connect data from different sources, analyze information, create interactive dashboards, and make better business decisions.</a:t>
            </a:r>
          </a:p>
          <a:p>
            <a:pPr>
              <a:spcBef>
                <a:spcPts val="1000"/>
              </a:spcBef>
            </a:pPr>
            <a:r>
              <a:rPr lang="en-US" dirty="0"/>
              <a:t> Qlik sense is self service analytical </a:t>
            </a:r>
            <a:r>
              <a:rPr lang="en-US" dirty="0" err="1"/>
              <a:t>plotform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en-US" dirty="0"/>
              <a:t>It helps users convert raw data into meaningful insights using charts, tables, KPIs, filters, and visualizations.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4760A0-6BD3-42FF-3F33-364FBCD1C657}"/>
              </a:ext>
            </a:extLst>
          </p:cNvPr>
          <p:cNvSpPr txBox="1"/>
          <p:nvPr/>
        </p:nvSpPr>
        <p:spPr>
          <a:xfrm>
            <a:off x="199592" y="380364"/>
            <a:ext cx="6024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Qlik Sense </a:t>
            </a:r>
            <a:endParaRPr lang="en-IN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EF42E9-C2F2-0DFF-5C5D-47EA734CFE18}"/>
              </a:ext>
            </a:extLst>
          </p:cNvPr>
          <p:cNvSpPr txBox="1"/>
          <p:nvPr/>
        </p:nvSpPr>
        <p:spPr>
          <a:xfrm>
            <a:off x="347213" y="2145919"/>
            <a:ext cx="609456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dirty="0"/>
              <a:t>Qlik Sense helps us:</a:t>
            </a:r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Connect data from multiple sources.</a:t>
            </a:r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Clean and transform data.</a:t>
            </a:r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Create interactive dashboards and reports.</a:t>
            </a:r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Identify trends and patterns.</a:t>
            </a:r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Analyze data using filters and selections.</a:t>
            </a:r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 business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312448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4760A0-6BD3-42FF-3F33-364FBCD1C657}"/>
              </a:ext>
            </a:extLst>
          </p:cNvPr>
          <p:cNvSpPr txBox="1"/>
          <p:nvPr/>
        </p:nvSpPr>
        <p:spPr>
          <a:xfrm>
            <a:off x="199592" y="380364"/>
            <a:ext cx="6024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Qlik Sense Features </a:t>
            </a:r>
            <a:endParaRPr lang="en-IN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35DD99-B631-CF98-755F-BFC1D0D4E1C4}"/>
              </a:ext>
            </a:extLst>
          </p:cNvPr>
          <p:cNvSpPr txBox="1"/>
          <p:nvPr/>
        </p:nvSpPr>
        <p:spPr>
          <a:xfrm>
            <a:off x="260948" y="888369"/>
            <a:ext cx="1112591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Data Manager</a:t>
            </a:r>
          </a:p>
          <a:p>
            <a:r>
              <a:rPr lang="en-US" dirty="0"/>
              <a:t>	A visual interface for loading, preparing, and associating data from different sources with minimal scripting.</a:t>
            </a:r>
          </a:p>
          <a:p>
            <a:endParaRPr lang="en-US" dirty="0"/>
          </a:p>
          <a:p>
            <a:r>
              <a:rPr lang="en-US" b="1" dirty="0"/>
              <a:t>2  Data Load Editor</a:t>
            </a:r>
          </a:p>
          <a:p>
            <a:r>
              <a:rPr lang="en-US" dirty="0"/>
              <a:t>Used to write load scripts for loading, transforming, joining, and aggregating data.</a:t>
            </a:r>
          </a:p>
          <a:p>
            <a:endParaRPr lang="en-US" dirty="0"/>
          </a:p>
          <a:p>
            <a:r>
              <a:rPr lang="en-US" b="1" dirty="0"/>
              <a:t>3 Associative Engine</a:t>
            </a:r>
          </a:p>
          <a:p>
            <a:r>
              <a:rPr lang="en-US" dirty="0"/>
              <a:t>Allows users to explore relationships between data interactively. Selecting one value updates related visualizations and reveals associated and unrelated values.</a:t>
            </a:r>
          </a:p>
          <a:p>
            <a:endParaRPr lang="en-US" dirty="0"/>
          </a:p>
          <a:p>
            <a:r>
              <a:rPr lang="en-US" b="1" dirty="0"/>
              <a:t>4. Interactive Dashboards</a:t>
            </a:r>
          </a:p>
          <a:p>
            <a:r>
              <a:rPr lang="en-US" dirty="0"/>
              <a:t>Create charts, KPIs, tables, filter panes, and visual reports for analysis.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3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D174CD-5413-C242-06EE-1E78882F2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471" y="517000"/>
            <a:ext cx="7908774" cy="558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86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7CCED5-9AE3-FF46-CA69-1E36F0CECEC0}"/>
              </a:ext>
            </a:extLst>
          </p:cNvPr>
          <p:cNvSpPr txBox="1"/>
          <p:nvPr/>
        </p:nvSpPr>
        <p:spPr>
          <a:xfrm>
            <a:off x="621102" y="802257"/>
            <a:ext cx="104552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 is Qlik Sense different from other BI tools?</a:t>
            </a:r>
          </a:p>
          <a:p>
            <a:endParaRPr lang="en-US" b="1" dirty="0"/>
          </a:p>
          <a:p>
            <a:r>
              <a:rPr lang="en-US" dirty="0"/>
              <a:t>Qlik Sense is a Business Intelligence (BI) tool, similar to Microsoft Power BI and Tableau. All three tools help organizations connect data, create dashboards, analyze trends, and make business decisions.</a:t>
            </a:r>
          </a:p>
          <a:p>
            <a:r>
              <a:rPr lang="en-US" dirty="0"/>
              <a:t>The main difference is Qlik Sense's associative engine, which allows users to explore relationships across data interactively, including discovering values that are not associated with their current selections.</a:t>
            </a:r>
          </a:p>
        </p:txBody>
      </p:sp>
    </p:spTree>
    <p:extLst>
      <p:ext uri="{BB962C8B-B14F-4D97-AF65-F5344CB8AC3E}">
        <p14:creationId xmlns:p14="http://schemas.microsoft.com/office/powerpoint/2010/main" val="4226754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7CCED5-9AE3-FF46-CA69-1E36F0CECEC0}"/>
              </a:ext>
            </a:extLst>
          </p:cNvPr>
          <p:cNvSpPr txBox="1"/>
          <p:nvPr/>
        </p:nvSpPr>
        <p:spPr>
          <a:xfrm>
            <a:off x="621102" y="802257"/>
            <a:ext cx="104552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 is Qlik Sense different from other BI tools?</a:t>
            </a:r>
          </a:p>
          <a:p>
            <a:endParaRPr lang="en-US" b="1" dirty="0"/>
          </a:p>
          <a:p>
            <a:r>
              <a:rPr lang="en-US" dirty="0"/>
              <a:t>Qlik Sense is a Business Intelligence (BI) tool, similar to Microsoft Power BI and Tableau. All three tools help organizations connect data, create dashboards, analyze trends, and make business decisions.</a:t>
            </a:r>
          </a:p>
          <a:p>
            <a:r>
              <a:rPr lang="en-US" dirty="0"/>
              <a:t>The main difference is Qlik Sense's associative engine, which allows users to explore relationships across data interactively, including discovering values that are not associated with their current selections.</a:t>
            </a:r>
          </a:p>
        </p:txBody>
      </p:sp>
    </p:spTree>
    <p:extLst>
      <p:ext uri="{BB962C8B-B14F-4D97-AF65-F5344CB8AC3E}">
        <p14:creationId xmlns:p14="http://schemas.microsoft.com/office/powerpoint/2010/main" val="2188597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4760A0-6BD3-42FF-3F33-364FBCD1C657}"/>
              </a:ext>
            </a:extLst>
          </p:cNvPr>
          <p:cNvSpPr txBox="1"/>
          <p:nvPr/>
        </p:nvSpPr>
        <p:spPr>
          <a:xfrm>
            <a:off x="199592" y="380364"/>
            <a:ext cx="6024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QlikView</a:t>
            </a:r>
            <a:endParaRPr lang="en-IN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35DD99-B631-CF98-755F-BFC1D0D4E1C4}"/>
              </a:ext>
            </a:extLst>
          </p:cNvPr>
          <p:cNvSpPr txBox="1"/>
          <p:nvPr/>
        </p:nvSpPr>
        <p:spPr>
          <a:xfrm>
            <a:off x="260948" y="888369"/>
            <a:ext cx="1112591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QlikView is a Business Intelligence (BI) and data visualization tool developed by Qlik. It helps organizations collect data from different sources, analyze information, and create interactive reports and dashboards.</a:t>
            </a:r>
          </a:p>
          <a:p>
            <a:r>
              <a:rPr lang="en-US" dirty="0"/>
              <a:t>QlikView is known for its guided analytics approach, where developers design reports and applications that users can explore interactively.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Why do we use QlikView?</a:t>
            </a:r>
          </a:p>
          <a:p>
            <a:endParaRPr lang="en-US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Connect to Excel files, text files, and databases.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Load and transform data using scripts.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Create charts, tables, and dashboards.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Analyze sales, finance, inventory, and student performance.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Explore relationships between data using selections.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 business decision-making.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426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4760A0-6BD3-42FF-3F33-364FBCD1C657}"/>
              </a:ext>
            </a:extLst>
          </p:cNvPr>
          <p:cNvSpPr txBox="1"/>
          <p:nvPr/>
        </p:nvSpPr>
        <p:spPr>
          <a:xfrm>
            <a:off x="199592" y="380364"/>
            <a:ext cx="6024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Qlik Sense Vs Qlik View</a:t>
            </a:r>
            <a:endParaRPr lang="en-IN" sz="20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D170D0-CEEB-2287-EE25-742617885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666939"/>
              </p:ext>
            </p:extLst>
          </p:nvPr>
        </p:nvGraphicFramePr>
        <p:xfrm>
          <a:off x="616789" y="1195564"/>
          <a:ext cx="10675188" cy="310896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1804035123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1674205435"/>
                    </a:ext>
                  </a:extLst>
                </a:gridCol>
                <a:gridCol w="3920904">
                  <a:extLst>
                    <a:ext uri="{9D8B030D-6E8A-4147-A177-3AD203B41FA5}">
                      <a16:colId xmlns:a16="http://schemas.microsoft.com/office/drawing/2014/main" val="370307264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QlikView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Qlik Sense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03498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Analytics approach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Guided analytics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Self-service and exploratory analytics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02676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Interface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Classic, developer-designed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Modern, responsive interface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1145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Dashboard creation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More developer-driven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Visual, drag-and-drop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0852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Data scripting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Supported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Supported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1048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Associative engine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59890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Mobile experience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More traditional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Designed for modern responsive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74065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2D8DC435-8831-A1AF-0EB3-F954D50B1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301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760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4760A0-6BD3-42FF-3F33-364FBCD1C657}"/>
              </a:ext>
            </a:extLst>
          </p:cNvPr>
          <p:cNvSpPr txBox="1"/>
          <p:nvPr/>
        </p:nvSpPr>
        <p:spPr>
          <a:xfrm>
            <a:off x="199592" y="380364"/>
            <a:ext cx="6024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is Associative Search in Qlik Sense?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D8DC435-8831-A1AF-0EB3-F954D50B1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301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33BC3-0635-6D4B-D4DE-E7050DD9B836}"/>
              </a:ext>
            </a:extLst>
          </p:cNvPr>
          <p:cNvSpPr txBox="1"/>
          <p:nvPr/>
        </p:nvSpPr>
        <p:spPr>
          <a:xfrm>
            <a:off x="199592" y="1037446"/>
            <a:ext cx="116358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Associative Search is a feature in Qlik Sense that helps users search for values across fields and explore relationships between data, even when the search term is not in the currently selected field.</a:t>
            </a:r>
          </a:p>
          <a:p>
            <a:r>
              <a:rPr lang="en-US" dirty="0"/>
              <a:t>Qlik Sense uses its Associative Engine to identify related and unrelated values based on the current selections.</a:t>
            </a:r>
          </a:p>
          <a:p>
            <a:r>
              <a:rPr lang="en-US" dirty="0"/>
              <a:t>For example, suppose you have sales data with these fields: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Category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Country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err="1"/>
              <a:t>OrderID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Product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Region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Sales</a:t>
            </a:r>
          </a:p>
          <a:p>
            <a:r>
              <a:rPr lang="en-US" dirty="0"/>
              <a:t>You can search for a product, country, or category and explore the associated sales information interactively.</a:t>
            </a:r>
          </a:p>
        </p:txBody>
      </p:sp>
    </p:spTree>
    <p:extLst>
      <p:ext uri="{BB962C8B-B14F-4D97-AF65-F5344CB8AC3E}">
        <p14:creationId xmlns:p14="http://schemas.microsoft.com/office/powerpoint/2010/main" val="1815866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4760A0-6BD3-42FF-3F33-364FBCD1C657}"/>
              </a:ext>
            </a:extLst>
          </p:cNvPr>
          <p:cNvSpPr txBox="1"/>
          <p:nvPr/>
        </p:nvSpPr>
        <p:spPr>
          <a:xfrm>
            <a:off x="199592" y="380364"/>
            <a:ext cx="6024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is Associative Search in Qlik Sense?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D8DC435-8831-A1AF-0EB3-F954D50B1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301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67FC21-2944-888C-9042-D9CB0F98A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92" y="842279"/>
            <a:ext cx="11779855" cy="2996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373CD9-2723-8770-B3EE-22D09E98E125}"/>
              </a:ext>
            </a:extLst>
          </p:cNvPr>
          <p:cNvSpPr txBox="1"/>
          <p:nvPr/>
        </p:nvSpPr>
        <p:spPr>
          <a:xfrm>
            <a:off x="81951" y="4029957"/>
            <a:ext cx="122840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 Green — Selected value</a:t>
            </a:r>
          </a:p>
          <a:p>
            <a:r>
              <a:rPr lang="en-IN" dirty="0"/>
              <a:t>	Laptop is selected in the Product field. This is the active selection that Qlik uses to filter the associated data.</a:t>
            </a:r>
          </a:p>
          <a:p>
            <a:r>
              <a:rPr lang="en-IN" b="1" dirty="0"/>
              <a:t>2. White — Possible values</a:t>
            </a:r>
          </a:p>
          <a:p>
            <a:r>
              <a:rPr lang="en-IN" dirty="0"/>
              <a:t>	Values that remain possible based on the current selection. For example, the visible countries France, Germany, India, and 	USA are possible with the selected Laptop product.</a:t>
            </a:r>
          </a:p>
          <a:p>
            <a:r>
              <a:rPr lang="en-IN" dirty="0"/>
              <a:t>3. Gray — Excluded values</a:t>
            </a:r>
          </a:p>
          <a:p>
            <a:r>
              <a:rPr lang="en-IN" dirty="0"/>
              <a:t>	Values that do not match the current selection. In your screenshot, Furniture is </a:t>
            </a:r>
            <a:r>
              <a:rPr lang="en-IN" dirty="0" err="1"/>
              <a:t>gray</a:t>
            </a:r>
            <a:r>
              <a:rPr lang="en-IN" dirty="0"/>
              <a:t>, indicating it is excluded by the current 	selection.</a:t>
            </a:r>
          </a:p>
        </p:txBody>
      </p:sp>
    </p:spTree>
    <p:extLst>
      <p:ext uri="{BB962C8B-B14F-4D97-AF65-F5344CB8AC3E}">
        <p14:creationId xmlns:p14="http://schemas.microsoft.com/office/powerpoint/2010/main" val="3598724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4760A0-6BD3-42FF-3F33-364FBCD1C657}"/>
              </a:ext>
            </a:extLst>
          </p:cNvPr>
          <p:cNvSpPr txBox="1"/>
          <p:nvPr/>
        </p:nvSpPr>
        <p:spPr>
          <a:xfrm>
            <a:off x="199592" y="380364"/>
            <a:ext cx="6024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Qlik Sense Architectural Components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D8DC435-8831-A1AF-0EB3-F954D50B1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301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E16DC-449F-724D-4786-CC4A246F0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92" y="950830"/>
            <a:ext cx="12280255" cy="526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23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4760A0-6BD3-42FF-3F33-364FBCD1C657}"/>
              </a:ext>
            </a:extLst>
          </p:cNvPr>
          <p:cNvSpPr txBox="1"/>
          <p:nvPr/>
        </p:nvSpPr>
        <p:spPr>
          <a:xfrm>
            <a:off x="199592" y="380364"/>
            <a:ext cx="6024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Qlik Sense Architectural Components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D8DC435-8831-A1AF-0EB3-F954D50B1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301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33BC3-0635-6D4B-D4DE-E7050DD9B836}"/>
              </a:ext>
            </a:extLst>
          </p:cNvPr>
          <p:cNvSpPr txBox="1"/>
          <p:nvPr/>
        </p:nvSpPr>
        <p:spPr>
          <a:xfrm>
            <a:off x="199592" y="1037446"/>
            <a:ext cx="116358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 Data sources</a:t>
            </a:r>
          </a:p>
          <a:p>
            <a:r>
              <a:rPr lang="en-IN" dirty="0"/>
              <a:t>Qlik Sense connects to multiple data sources: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Databases: SQL Server, Oracle, MySQL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Files: Excel, CSV, QVD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Cloud platforms: Snowflake, Azure, Amazon Web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Web services and APIs</a:t>
            </a:r>
          </a:p>
          <a:p>
            <a:pPr lvl="1"/>
            <a:r>
              <a:rPr lang="en-IN" dirty="0"/>
              <a:t>Purpose: Collect data for analysis.</a:t>
            </a:r>
          </a:p>
          <a:p>
            <a:endParaRPr lang="en-IN" b="1" dirty="0"/>
          </a:p>
          <a:p>
            <a:r>
              <a:rPr lang="en-IN" b="1" dirty="0"/>
              <a:t>2. Data Load Editor</a:t>
            </a:r>
          </a:p>
          <a:p>
            <a:r>
              <a:rPr lang="en-IN" dirty="0"/>
              <a:t>The Data Load Editor is used to write Qlik script to extract, transform, and load data.</a:t>
            </a:r>
          </a:p>
          <a:p>
            <a:r>
              <a:rPr lang="en-US" dirty="0"/>
              <a:t>Purpose: Load and transform data before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567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4760A0-6BD3-42FF-3F33-364FBCD1C657}"/>
              </a:ext>
            </a:extLst>
          </p:cNvPr>
          <p:cNvSpPr txBox="1"/>
          <p:nvPr/>
        </p:nvSpPr>
        <p:spPr>
          <a:xfrm>
            <a:off x="199592" y="380364"/>
            <a:ext cx="6024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Qlik Sense Architectural Components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D8DC435-8831-A1AF-0EB3-F954D50B1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301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33BC3-0635-6D4B-D4DE-E7050DD9B836}"/>
              </a:ext>
            </a:extLst>
          </p:cNvPr>
          <p:cNvSpPr txBox="1"/>
          <p:nvPr/>
        </p:nvSpPr>
        <p:spPr>
          <a:xfrm>
            <a:off x="199591" y="1037446"/>
            <a:ext cx="1191189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 QIX Engine (Associative Engine)</a:t>
            </a:r>
          </a:p>
          <a:p>
            <a:r>
              <a:rPr lang="en-US" dirty="0"/>
              <a:t>The QIX Engine is the core analytical engine of Qlik Sense.</a:t>
            </a:r>
          </a:p>
          <a:p>
            <a:endParaRPr lang="en-US" b="1" dirty="0"/>
          </a:p>
          <a:p>
            <a:r>
              <a:rPr lang="en-US" b="1" dirty="0"/>
              <a:t>Its responsibilities include:</a:t>
            </a:r>
          </a:p>
          <a:p>
            <a:pPr lvl="1"/>
            <a:r>
              <a:rPr lang="en-US" b="1" dirty="0"/>
              <a:t>- </a:t>
            </a:r>
            <a:r>
              <a:rPr lang="en-US" dirty="0"/>
              <a:t>Building the associative data model.</a:t>
            </a:r>
          </a:p>
          <a:p>
            <a:pPr lvl="1"/>
            <a:r>
              <a:rPr lang="en-US" dirty="0"/>
              <a:t>- Processing selections and filters.</a:t>
            </a:r>
          </a:p>
          <a:p>
            <a:pPr lvl="1"/>
            <a:r>
              <a:rPr lang="en-US" dirty="0"/>
              <a:t>- Performing calculations and aggregations.</a:t>
            </a:r>
          </a:p>
          <a:p>
            <a:pPr lvl="1"/>
            <a:r>
              <a:rPr lang="en-US" dirty="0"/>
              <a:t>- Supporting interactive visualizations.</a:t>
            </a:r>
          </a:p>
          <a:p>
            <a:pPr lvl="1"/>
            <a:r>
              <a:rPr lang="en-US" dirty="0"/>
              <a:t>- Identifying possible and excluded values.</a:t>
            </a:r>
          </a:p>
          <a:p>
            <a:r>
              <a:rPr lang="en-US" dirty="0"/>
              <a:t>Example: When you select Product = Laptop, the engine updates the associated values in Country, Region, </a:t>
            </a:r>
            <a:r>
              <a:rPr lang="en-US" dirty="0" err="1"/>
              <a:t>OrderID</a:t>
            </a:r>
            <a:r>
              <a:rPr lang="en-US" dirty="0"/>
              <a:t>, and Sales.</a:t>
            </a:r>
          </a:p>
          <a:p>
            <a:endParaRPr lang="en-US" dirty="0"/>
          </a:p>
          <a:p>
            <a:r>
              <a:rPr lang="en-US" b="1" dirty="0"/>
              <a:t>4. Qlik Repository</a:t>
            </a:r>
          </a:p>
          <a:p>
            <a:r>
              <a:rPr lang="en-US" dirty="0"/>
              <a:t>In Qlik Sense Enterprise on Windows, the Qlik Repository Service (QRS) manages and stores information about applications, data connections, users, permissions, and other repository objects.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6377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4760A0-6BD3-42FF-3F33-364FBCD1C657}"/>
              </a:ext>
            </a:extLst>
          </p:cNvPr>
          <p:cNvSpPr txBox="1"/>
          <p:nvPr/>
        </p:nvSpPr>
        <p:spPr>
          <a:xfrm>
            <a:off x="199592" y="380364"/>
            <a:ext cx="6024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Qlik Sense Architectural Components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D8DC435-8831-A1AF-0EB3-F954D50B1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301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33BC3-0635-6D4B-D4DE-E7050DD9B836}"/>
              </a:ext>
            </a:extLst>
          </p:cNvPr>
          <p:cNvSpPr txBox="1"/>
          <p:nvPr/>
        </p:nvSpPr>
        <p:spPr>
          <a:xfrm>
            <a:off x="199591" y="1037446"/>
            <a:ext cx="1191189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Qlik Management Console (QMC)</a:t>
            </a:r>
          </a:p>
          <a:p>
            <a:r>
              <a:rPr lang="en-US" b="1" dirty="0"/>
              <a:t>The QMC is the administration interface for Qlik Sense Enterprise on Windows.</a:t>
            </a:r>
          </a:p>
          <a:p>
            <a:endParaRPr lang="en-US" b="1" dirty="0"/>
          </a:p>
          <a:p>
            <a:r>
              <a:rPr lang="en-US" b="1" dirty="0"/>
              <a:t>Administrators use it to manage:</a:t>
            </a:r>
          </a:p>
          <a:p>
            <a:pPr lvl="1"/>
            <a:r>
              <a:rPr lang="en-US" b="1" dirty="0"/>
              <a:t>- Users and security rules.</a:t>
            </a:r>
          </a:p>
          <a:p>
            <a:pPr lvl="1"/>
            <a:r>
              <a:rPr lang="en-US" b="1" dirty="0"/>
              <a:t>- Applications and data connections.</a:t>
            </a:r>
          </a:p>
          <a:p>
            <a:pPr lvl="1"/>
            <a:r>
              <a:rPr lang="en-US" b="1" dirty="0"/>
              <a:t>- Reload tasks and schedules.</a:t>
            </a:r>
          </a:p>
          <a:p>
            <a:pPr lvl="1"/>
            <a:r>
              <a:rPr lang="en-US" b="1" dirty="0"/>
              <a:t>- Licenses and system configuration.</a:t>
            </a:r>
          </a:p>
          <a:p>
            <a:pPr lvl="1"/>
            <a:r>
              <a:rPr lang="en-US" b="1" dirty="0"/>
              <a:t> Monitoring and administration.</a:t>
            </a:r>
          </a:p>
          <a:p>
            <a:pPr marL="742950" lvl="1" indent="-285750">
              <a:buFontTx/>
              <a:buChar char="-"/>
            </a:pPr>
            <a:endParaRPr lang="en-US" b="1" dirty="0"/>
          </a:p>
          <a:p>
            <a:r>
              <a:rPr lang="en-US" b="1" dirty="0"/>
              <a:t>6 Client applications</a:t>
            </a:r>
          </a:p>
          <a:p>
            <a:r>
              <a:rPr lang="en-US" dirty="0"/>
              <a:t>Users interact with Qlik Sense through supported clients, including: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Browser-based Qlik Sense applications.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Qlik Sense Desktop for supported Windows workflows.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Mobile access.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Embedded analytics in other applications.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83006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D8DC435-8831-A1AF-0EB3-F954D50B1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301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33BC3-0635-6D4B-D4DE-E7050DD9B836}"/>
              </a:ext>
            </a:extLst>
          </p:cNvPr>
          <p:cNvSpPr txBox="1"/>
          <p:nvPr/>
        </p:nvSpPr>
        <p:spPr>
          <a:xfrm>
            <a:off x="216844" y="654854"/>
            <a:ext cx="119118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a Qlik Sense App?</a:t>
            </a:r>
          </a:p>
          <a:p>
            <a:r>
              <a:rPr lang="en-US" dirty="0"/>
              <a:t>A Qlik Sense App is a container that holds the data model, visualizations, sheets, charts, filters, and other analytical objects used to analyze business data.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Data Manager </a:t>
            </a:r>
            <a:r>
              <a:rPr lang="en-US" dirty="0"/>
              <a:t>— a graphical interface for loading, associating, and preparing data with minimal scripting.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Data Load Editor </a:t>
            </a:r>
            <a:r>
              <a:rPr lang="en-US" dirty="0"/>
              <a:t>— a script-based interface for controlling how data is loaded and transformed using Qlik script.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Master Items</a:t>
            </a:r>
          </a:p>
          <a:p>
            <a:r>
              <a:rPr lang="en-US" dirty="0"/>
              <a:t>Reuse master dimensions, measures, and visualizations across sheets in an app.</a:t>
            </a:r>
          </a:p>
          <a:p>
            <a:r>
              <a:rPr lang="en-US" dirty="0"/>
              <a:t>Example: Create a master measure for Total Sales.</a:t>
            </a:r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67918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D8DC435-8831-A1AF-0EB3-F954D50B1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301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33BC3-0635-6D4B-D4DE-E7050DD9B836}"/>
              </a:ext>
            </a:extLst>
          </p:cNvPr>
          <p:cNvSpPr txBox="1"/>
          <p:nvPr/>
        </p:nvSpPr>
        <p:spPr>
          <a:xfrm>
            <a:off x="216844" y="654854"/>
            <a:ext cx="119118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Set Analysis in Qlik Sense?</a:t>
            </a:r>
          </a:p>
          <a:p>
            <a:r>
              <a:rPr lang="en-US" dirty="0"/>
              <a:t>Set Analysis in Qlik Sense is a technique used to define which data records should be considered when calculating a measure, regardless of some or all current selections.</a:t>
            </a:r>
          </a:p>
          <a:p>
            <a:endParaRPr lang="en-US" b="1" dirty="0"/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Assume your dataset contains the following data:</a:t>
            </a:r>
          </a:p>
          <a:p>
            <a:endParaRPr lang="en-US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90E969-1617-8FA8-AEDC-759016146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740775"/>
              </p:ext>
            </p:extLst>
          </p:nvPr>
        </p:nvGraphicFramePr>
        <p:xfrm>
          <a:off x="216844" y="2260450"/>
          <a:ext cx="10131426" cy="182880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1868323696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2757934374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81394450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2056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East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10,000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0487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15,000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5943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East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20,000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0954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25,000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08366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8466F4-1B39-44C4-1217-BBD41ABA83D2}"/>
              </a:ext>
            </a:extLst>
          </p:cNvPr>
          <p:cNvSpPr txBox="1"/>
          <p:nvPr/>
        </p:nvSpPr>
        <p:spPr>
          <a:xfrm>
            <a:off x="216844" y="4410665"/>
            <a:ext cx="96249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Suppose the user selects 2025 in a filter.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Normal Sales expression displays sales for 2025.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 Set Analysis expression can display sales for 2024 even though 2025 is selected.</a:t>
            </a:r>
          </a:p>
          <a:p>
            <a:endParaRPr lang="en-US" dirty="0"/>
          </a:p>
          <a:p>
            <a:r>
              <a:rPr lang="en-US" dirty="0"/>
              <a:t>Sum(Sales)  Follows the current selections.</a:t>
            </a:r>
          </a:p>
          <a:p>
            <a:endParaRPr lang="en-US" dirty="0"/>
          </a:p>
          <a:p>
            <a:r>
              <a:rPr lang="en-US" dirty="0"/>
              <a:t>Set Analysis expression   Sum({&lt;Year={2024}&gt;} Sales)</a:t>
            </a:r>
          </a:p>
          <a:p>
            <a:r>
              <a:rPr lang="en-US" dirty="0"/>
              <a:t>  Calculates sales for 2024, overriding the current selection in the Year field.</a:t>
            </a:r>
          </a:p>
        </p:txBody>
      </p:sp>
    </p:spTree>
    <p:extLst>
      <p:ext uri="{BB962C8B-B14F-4D97-AF65-F5344CB8AC3E}">
        <p14:creationId xmlns:p14="http://schemas.microsoft.com/office/powerpoint/2010/main" val="3904072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D8DC435-8831-A1AF-0EB3-F954D50B1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301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AAF56-7E5E-2E1E-689D-668C4F7A7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055" y="609455"/>
            <a:ext cx="8553890" cy="563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84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D8DC435-8831-A1AF-0EB3-F954D50B1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301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46C3E1-B55D-DCAE-507D-BA2330582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088" y="2200212"/>
            <a:ext cx="7283824" cy="245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62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D8DC435-8831-A1AF-0EB3-F954D50B1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301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8F61D3-0B3D-F7F1-DCB3-7002ECF60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043" y="1244487"/>
            <a:ext cx="7067913" cy="436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90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D8DC435-8831-A1AF-0EB3-F954D50B1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301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76C55A-3FE3-DD75-4C09-FEA5A0519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660" y="1143054"/>
            <a:ext cx="7421013" cy="510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665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D8DC435-8831-A1AF-0EB3-F954D50B1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301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505F7-C813-CEA1-4D40-6E9826735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303" y="695184"/>
            <a:ext cx="8617393" cy="546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210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D8DC435-8831-A1AF-0EB3-F954D50B1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301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4B720-5E8C-A136-D40A-39934740F5CD}"/>
              </a:ext>
            </a:extLst>
          </p:cNvPr>
          <p:cNvSpPr txBox="1"/>
          <p:nvPr/>
        </p:nvSpPr>
        <p:spPr>
          <a:xfrm>
            <a:off x="595223" y="586596"/>
            <a:ext cx="85466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effectLst/>
                <a:latin typeface="monaSans"/>
              </a:rPr>
              <a:t>Why Do We Need Set Analysis?</a:t>
            </a:r>
          </a:p>
          <a:p>
            <a:pPr algn="l"/>
            <a:r>
              <a:rPr lang="en-US" b="1" i="0" dirty="0">
                <a:effectLst/>
                <a:latin typeface="monaSans"/>
              </a:rPr>
              <a:t>Real Business Use Cases (Superstore Examples):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Comparison Analysis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Compare "Sales in Selected Region" vs "Total Company Sales"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Year-over-Year (YoY) Comparison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Show 2023 Sales vs 2022 Sales in the same chart, regardless of Year filter selected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Fixed KPIs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Show "Total Profit for Technology Category" as a fixed KPI card, even if the user filters by Furniture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Excluding Specific Data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Show Sales excluding "Returned" orders, regardless of other filters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Top Performer Analysis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Show "Top 5 Customers Sales" regardless of current Region/Category filter</a:t>
            </a:r>
          </a:p>
        </p:txBody>
      </p:sp>
    </p:spTree>
    <p:extLst>
      <p:ext uri="{BB962C8B-B14F-4D97-AF65-F5344CB8AC3E}">
        <p14:creationId xmlns:p14="http://schemas.microsoft.com/office/powerpoint/2010/main" val="12462416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{5FC47611-442B-45BF-842A-73C1A5F21394}TFb5ae2469-0bae-4978-b0e0-39dd046150ff9a115ede-a9c3cc5252b0</Template>
  <TotalTime>1148</TotalTime>
  <Words>1363</Words>
  <Application>Microsoft Office PowerPoint</Application>
  <PresentationFormat>Widescreen</PresentationFormat>
  <Paragraphs>185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Inter</vt:lpstr>
      <vt:lpstr>monaSans</vt:lpstr>
      <vt:lpstr>Celestial</vt:lpstr>
      <vt:lpstr>Qlik Sense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babjee reddy</dc:creator>
  <cp:lastModifiedBy>babjee reddy</cp:lastModifiedBy>
  <cp:revision>3</cp:revision>
  <dcterms:created xsi:type="dcterms:W3CDTF">2026-10-19T03:28:58Z</dcterms:created>
  <dcterms:modified xsi:type="dcterms:W3CDTF">2026-10-22T09:09:03Z</dcterms:modified>
</cp:coreProperties>
</file>